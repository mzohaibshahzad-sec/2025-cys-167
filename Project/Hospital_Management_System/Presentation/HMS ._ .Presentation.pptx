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DC1458-845C-486D-A33E-B3A7763EDC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0279DC-3A80-4C5E-9FBF-312BD4DA18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BC7EEF-D099-42F3-8E17-D045EB7B23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1A9B59-20EB-4A6A-B8A5-DE5184C2C0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BAE648-FC0E-43E9-A8C8-006535EF72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9CCC5A-66CA-40E1-ABCB-F6AC1D44D0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649410-61F6-4016-9DD7-B9F709ECA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ADFF0C-D462-4AB6-A7D4-CF7029D42D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05901F-A5F1-4F41-A47E-92BCFFB534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83BF07-317A-4974-A57F-F9AA34AC27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634ABD-6F72-4356-A043-4A7F7BE919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B5195F-6E96-4DF8-9B0B-0A87BDF234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B28EA0-51EC-483A-9F5D-BF0066829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C876D7-FBBB-4223-946D-5739003615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F5C0F0-AEF3-49BB-A2D6-59E9C1BE02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03BF86-3444-405F-BA81-19FF6C5C28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57A717-7980-4BAC-A6E4-F872BAF821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B8EE22-1A6B-4101-8201-EC238BB1D9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3F3AA4-1693-49A3-8271-735D1B7E88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C09417-884C-4591-8F05-F8A2994589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C654B3-DF01-41DA-ABA3-62C3B0E378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D890A1-EF44-42F4-96B5-6328170F12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FF4CAE-267C-4640-8743-0ACD8041A0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47858E-4A48-4E21-93DC-EA711ACAE8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AE9E66-48D3-46E5-9A82-2F8233996D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C13308-AA36-496E-95C0-C358036AAE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EAB47E-13D2-4369-87F3-9647840EB9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BCF6FA-4432-4B7C-B66B-C873B23058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4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18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34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36.png"/><Relationship Id="rId21" Type="http://schemas.openxmlformats.org/officeDocument/2006/relationships/image" Target="../media/image55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43.png"/><Relationship Id="rId6" Type="http://schemas.openxmlformats.org/officeDocument/2006/relationships/image" Target="../media/image6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38.png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31.png"/><Relationship Id="rId4" Type="http://schemas.openxmlformats.org/officeDocument/2006/relationships/image" Target="../media/image47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12.png"/><Relationship Id="rId3" Type="http://schemas.openxmlformats.org/officeDocument/2006/relationships/image" Target="../media/image67.png"/><Relationship Id="rId4" Type="http://schemas.openxmlformats.org/officeDocument/2006/relationships/image" Target="../media/image5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image" Target="../media/image77.png"/><Relationship Id="rId4" Type="http://schemas.openxmlformats.org/officeDocument/2006/relationships/image" Target="../media/image77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79.png"/><Relationship Id="rId9" Type="http://schemas.openxmlformats.org/officeDocument/2006/relationships/image" Target="../media/image79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1.png"/><Relationship Id="rId14" Type="http://schemas.openxmlformats.org/officeDocument/2006/relationships/image" Target="../media/image81.png"/><Relationship Id="rId15" Type="http://schemas.openxmlformats.org/officeDocument/2006/relationships/image" Target="../media/image81.png"/><Relationship Id="rId16" Type="http://schemas.openxmlformats.org/officeDocument/2006/relationships/image" Target="../media/image81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3.png"/><Relationship Id="rId21" Type="http://schemas.openxmlformats.org/officeDocument/2006/relationships/image" Target="../media/image83.png"/><Relationship Id="rId22" Type="http://schemas.openxmlformats.org/officeDocument/2006/relationships/image" Target="../media/image83.png"/><Relationship Id="rId23" Type="http://schemas.openxmlformats.org/officeDocument/2006/relationships/image" Target="../media/image8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9.png"/><Relationship Id="rId3" Type="http://schemas.openxmlformats.org/officeDocument/2006/relationships/image" Target="../media/image39.png"/><Relationship Id="rId4" Type="http://schemas.openxmlformats.org/officeDocument/2006/relationships/image" Target="../media/image8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200520" cy="685728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739840" y="-2286000"/>
            <a:ext cx="6400080" cy="6400080"/>
          </a:xfrm>
          <a:prstGeom prst="ellipse">
            <a:avLst/>
          </a:prstGeom>
          <a:solidFill>
            <a:srgbClr val="00B4FF">
              <a:alpha val="5000"/>
            </a:srgbClr>
          </a:solidFill>
          <a:ln w="12700">
            <a:solidFill>
              <a:srgbClr val="00B4F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-1371600" y="3657600"/>
            <a:ext cx="3656880" cy="3656880"/>
          </a:xfrm>
          <a:prstGeom prst="ellipse">
            <a:avLst/>
          </a:prstGeom>
          <a:solidFill>
            <a:srgbClr val="FF2D78">
              <a:alpha val="6000"/>
            </a:srgbClr>
          </a:solidFill>
          <a:ln w="12700">
            <a:solidFill>
              <a:srgbClr val="FF2D78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629400" y="3429000"/>
            <a:ext cx="2742480" cy="2742480"/>
          </a:xfrm>
          <a:prstGeom prst="ellipse">
            <a:avLst/>
          </a:prstGeom>
          <a:solidFill>
            <a:srgbClr val="9D4EDD">
              <a:alpha val="9000"/>
            </a:srgbClr>
          </a:solidFill>
          <a:ln w="12700">
            <a:solidFill>
              <a:srgbClr val="9D4EDD">
                <a:alpha val="1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0" descr="preencoded.png"/>
          <p:cNvPicPr/>
          <p:nvPr/>
        </p:nvPicPr>
        <p:blipFill>
          <a:blip r:embed="rId1"/>
          <a:stretch/>
        </p:blipFill>
        <p:spPr>
          <a:xfrm>
            <a:off x="6858000" y="91440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Image 1" descr="preencoded.png"/>
          <p:cNvPicPr/>
          <p:nvPr/>
        </p:nvPicPr>
        <p:blipFill>
          <a:blip r:embed="rId2"/>
          <a:stretch/>
        </p:blipFill>
        <p:spPr>
          <a:xfrm>
            <a:off x="677160" y="228600"/>
            <a:ext cx="694080" cy="69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5"/>
          <p:cNvSpPr/>
          <p:nvPr/>
        </p:nvSpPr>
        <p:spPr>
          <a:xfrm>
            <a:off x="2057400" y="21996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49" strike="noStrike">
                <a:solidFill>
                  <a:srgbClr val="00FFD4"/>
                </a:solidFill>
                <a:effectLst/>
                <a:uFillTx/>
                <a:latin typeface="Calibri"/>
              </a:rPr>
              <a:t>OBJECT ORIENTED PROGRAMMING  ⬥  LAB PROJECT  ⬥  UET LAHORE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02920" y="111564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Hospital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02920" y="193860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00FFD4"/>
                </a:solidFill>
                <a:effectLst/>
                <a:uFillTx/>
                <a:latin typeface="Cambria"/>
                <a:ea typeface="Cambria"/>
              </a:rPr>
              <a:t>Management System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502920" y="2816280"/>
            <a:ext cx="8228880" cy="36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502920" y="311472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457200" y="309960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Java 25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1965960" y="309960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1965960" y="309960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JavaFX GUI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3475080" y="306360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3429000" y="305172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MySQL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4892040" y="306360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4892040" y="306360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Email 2FA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355080" y="306360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6355080" y="306360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PDF Reports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7772400" y="3063600"/>
            <a:ext cx="1325160" cy="365040"/>
          </a:xfrm>
          <a:prstGeom prst="roundRect">
            <a:avLst>
              <a:gd name="adj" fmla="val 50000"/>
            </a:avLst>
          </a:prstGeom>
          <a:solidFill>
            <a:srgbClr val="060B14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7782120" y="3051720"/>
            <a:ext cx="1325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Kali Linux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1"/>
          <p:cNvSpPr/>
          <p:nvPr/>
        </p:nvSpPr>
        <p:spPr>
          <a:xfrm>
            <a:off x="502920" y="43891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University of Engineering &amp; Technology, Lahore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2"/>
          <p:cNvSpPr/>
          <p:nvPr/>
        </p:nvSpPr>
        <p:spPr>
          <a:xfrm>
            <a:off x="502920" y="468180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 25  ·  JavaFX SDK 21/25  ·  MySQL Latest  ·  IntelliJ IDEA Ultimate 2026  ·  iText 5.5.13  ·  Jakarta Mail 2.0.1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3"/>
          <p:cNvSpPr/>
          <p:nvPr/>
        </p:nvSpPr>
        <p:spPr>
          <a:xfrm>
            <a:off x="0" y="6803280"/>
            <a:ext cx="914328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313200" y="96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Presentation Agenda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384120" y="972720"/>
            <a:ext cx="3501720" cy="67572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475560" y="116532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00FFD4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75560" y="1165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914400" y="117432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7"/>
          <p:cNvSpPr/>
          <p:nvPr/>
        </p:nvSpPr>
        <p:spPr>
          <a:xfrm>
            <a:off x="1317240" y="104688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 Overview &amp; Objectives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4727880" y="950400"/>
            <a:ext cx="3729960" cy="68544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4864680" y="109332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00B4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4864680" y="1093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1" descr="preencoded.png"/>
          <p:cNvPicPr/>
          <p:nvPr/>
        </p:nvPicPr>
        <p:blipFill>
          <a:blip r:embed="rId2"/>
          <a:stretch/>
        </p:blipFill>
        <p:spPr>
          <a:xfrm>
            <a:off x="5303520" y="110232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11"/>
          <p:cNvSpPr/>
          <p:nvPr/>
        </p:nvSpPr>
        <p:spPr>
          <a:xfrm>
            <a:off x="5742360" y="101088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 Stack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384120" y="1792800"/>
            <a:ext cx="3501720" cy="67608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475560" y="200880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9D4ED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75560" y="2008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2" descr="preencoded.png"/>
          <p:cNvPicPr/>
          <p:nvPr/>
        </p:nvPicPr>
        <p:blipFill>
          <a:blip r:embed="rId3"/>
          <a:stretch/>
        </p:blipFill>
        <p:spPr>
          <a:xfrm>
            <a:off x="914400" y="19461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5"/>
          <p:cNvSpPr/>
          <p:nvPr/>
        </p:nvSpPr>
        <p:spPr>
          <a:xfrm>
            <a:off x="1325160" y="186480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Architecture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4728600" y="1828800"/>
            <a:ext cx="3765240" cy="61200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4864680" y="190080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FFB70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4864680" y="19008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3" descr="preencoded.png"/>
          <p:cNvPicPr/>
          <p:nvPr/>
        </p:nvPicPr>
        <p:blipFill>
          <a:blip r:embed="rId4"/>
          <a:stretch/>
        </p:blipFill>
        <p:spPr>
          <a:xfrm>
            <a:off x="5303520" y="19461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9"/>
          <p:cNvSpPr/>
          <p:nvPr/>
        </p:nvSpPr>
        <p:spPr>
          <a:xfrm>
            <a:off x="5742360" y="185472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OOP Concepts Applied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384480" y="2624040"/>
            <a:ext cx="3501360" cy="61200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475560" y="274428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00FF9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475560" y="27442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4" descr="preencoded.png"/>
          <p:cNvPicPr/>
          <p:nvPr/>
        </p:nvPicPr>
        <p:blipFill>
          <a:blip r:embed="rId5"/>
          <a:stretch/>
        </p:blipFill>
        <p:spPr>
          <a:xfrm>
            <a:off x="914400" y="27536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3"/>
          <p:cNvSpPr/>
          <p:nvPr/>
        </p:nvSpPr>
        <p:spPr>
          <a:xfrm>
            <a:off x="1353240" y="266220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Database Design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4763880" y="2622600"/>
            <a:ext cx="3729960" cy="61200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4864680" y="270828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00FFD4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4864680" y="27082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5" descr="preencoded.png"/>
          <p:cNvPicPr/>
          <p:nvPr/>
        </p:nvPicPr>
        <p:blipFill>
          <a:blip r:embed="rId6"/>
          <a:stretch/>
        </p:blipFill>
        <p:spPr>
          <a:xfrm>
            <a:off x="5303520" y="27176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27"/>
          <p:cNvSpPr/>
          <p:nvPr/>
        </p:nvSpPr>
        <p:spPr>
          <a:xfrm>
            <a:off x="5742360" y="262620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Roles &amp; Features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8"/>
          <p:cNvSpPr/>
          <p:nvPr/>
        </p:nvSpPr>
        <p:spPr>
          <a:xfrm>
            <a:off x="421200" y="3429000"/>
            <a:ext cx="3464640" cy="60084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9"/>
          <p:cNvSpPr/>
          <p:nvPr/>
        </p:nvSpPr>
        <p:spPr>
          <a:xfrm>
            <a:off x="493200" y="353700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FF2D7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475560" y="3515400"/>
            <a:ext cx="3466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6" descr="preencoded.png"/>
          <p:cNvPicPr/>
          <p:nvPr/>
        </p:nvPicPr>
        <p:blipFill>
          <a:blip r:embed="rId7"/>
          <a:stretch/>
        </p:blipFill>
        <p:spPr>
          <a:xfrm>
            <a:off x="914400" y="352152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31"/>
          <p:cNvSpPr/>
          <p:nvPr/>
        </p:nvSpPr>
        <p:spPr>
          <a:xfrm>
            <a:off x="1353240" y="343368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 Framework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2"/>
          <p:cNvSpPr/>
          <p:nvPr/>
        </p:nvSpPr>
        <p:spPr>
          <a:xfrm>
            <a:off x="4773240" y="3433680"/>
            <a:ext cx="3729240" cy="54720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3"/>
          <p:cNvSpPr/>
          <p:nvPr/>
        </p:nvSpPr>
        <p:spPr>
          <a:xfrm>
            <a:off x="4828680" y="355212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9D4ED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4"/>
          <p:cNvSpPr/>
          <p:nvPr/>
        </p:nvSpPr>
        <p:spPr>
          <a:xfrm>
            <a:off x="4836600" y="35391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7" descr="preencoded.png"/>
          <p:cNvPicPr/>
          <p:nvPr/>
        </p:nvPicPr>
        <p:blipFill>
          <a:blip r:embed="rId8"/>
          <a:stretch/>
        </p:blipFill>
        <p:spPr>
          <a:xfrm>
            <a:off x="5257800" y="35496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35"/>
          <p:cNvSpPr/>
          <p:nvPr/>
        </p:nvSpPr>
        <p:spPr>
          <a:xfrm>
            <a:off x="5742360" y="346968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Medicine Dispensary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6"/>
          <p:cNvSpPr/>
          <p:nvPr/>
        </p:nvSpPr>
        <p:spPr>
          <a:xfrm>
            <a:off x="457200" y="4188240"/>
            <a:ext cx="3428640" cy="61200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7"/>
          <p:cNvSpPr/>
          <p:nvPr/>
        </p:nvSpPr>
        <p:spPr>
          <a:xfrm>
            <a:off x="511560" y="428760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FFB700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8"/>
          <p:cNvSpPr/>
          <p:nvPr/>
        </p:nvSpPr>
        <p:spPr>
          <a:xfrm>
            <a:off x="511560" y="42876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8" descr="preencoded.png"/>
          <p:cNvPicPr/>
          <p:nvPr/>
        </p:nvPicPr>
        <p:blipFill>
          <a:blip r:embed="rId9"/>
          <a:stretch/>
        </p:blipFill>
        <p:spPr>
          <a:xfrm>
            <a:off x="921600" y="43214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39"/>
          <p:cNvSpPr/>
          <p:nvPr/>
        </p:nvSpPr>
        <p:spPr>
          <a:xfrm>
            <a:off x="1353240" y="424116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Billing &amp; Reports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0"/>
          <p:cNvSpPr/>
          <p:nvPr/>
        </p:nvSpPr>
        <p:spPr>
          <a:xfrm>
            <a:off x="4700520" y="4111560"/>
            <a:ext cx="3729240" cy="685440"/>
          </a:xfrm>
          <a:prstGeom prst="roundRect">
            <a:avLst>
              <a:gd name="adj" fmla="val 10870"/>
            </a:avLst>
          </a:prstGeom>
          <a:solidFill>
            <a:srgbClr val="0A1020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1"/>
          <p:cNvSpPr/>
          <p:nvPr/>
        </p:nvSpPr>
        <p:spPr>
          <a:xfrm>
            <a:off x="4864680" y="4273560"/>
            <a:ext cx="346680" cy="346680"/>
          </a:xfrm>
          <a:prstGeom prst="roundRect">
            <a:avLst>
              <a:gd name="adj" fmla="val 15789"/>
            </a:avLst>
          </a:prstGeom>
          <a:noFill/>
          <a:ln w="12700">
            <a:solidFill>
              <a:srgbClr val="00FF9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2"/>
          <p:cNvSpPr/>
          <p:nvPr/>
        </p:nvSpPr>
        <p:spPr>
          <a:xfrm>
            <a:off x="4864680" y="42876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9" descr="preencoded.png"/>
          <p:cNvPicPr/>
          <p:nvPr/>
        </p:nvPicPr>
        <p:blipFill>
          <a:blip r:embed="rId10"/>
          <a:stretch/>
        </p:blipFill>
        <p:spPr>
          <a:xfrm>
            <a:off x="5272560" y="427032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43"/>
          <p:cNvSpPr/>
          <p:nvPr/>
        </p:nvSpPr>
        <p:spPr>
          <a:xfrm>
            <a:off x="5715000" y="4217040"/>
            <a:ext cx="3089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Testing, File Tree &amp; Credentials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357120" y="27720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00FFD4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Project Overview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00FFD4"/>
                </a:solidFill>
                <a:effectLst/>
                <a:uFillTx/>
                <a:latin typeface="Calibri"/>
              </a:rPr>
              <a:t>What is HMS and why does it exist?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00FFD4">
              <a:alpha val="7000"/>
            </a:srgbClr>
          </a:solidFill>
          <a:ln w="12700">
            <a:solidFill>
              <a:srgbClr val="00FFD4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B4FF">
              <a:alpha val="10000"/>
            </a:srgbClr>
          </a:solidFill>
          <a:ln w="12700">
            <a:solidFill>
              <a:srgbClr val="00B4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D4"/>
                </a:solidFill>
                <a:effectLst/>
                <a:uFillTx/>
                <a:latin typeface="Calibri"/>
              </a:rPr>
              <a:t>PROJECT OVERVIEW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is HMS?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384120" y="1143000"/>
            <a:ext cx="8375040" cy="867960"/>
          </a:xfrm>
          <a:prstGeom prst="roundRect">
            <a:avLst>
              <a:gd name="adj" fmla="val 10526"/>
            </a:avLst>
          </a:prstGeom>
          <a:solidFill>
            <a:srgbClr val="0F1A2E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384120" y="1143000"/>
            <a:ext cx="163800" cy="86796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58440" y="1188720"/>
            <a:ext cx="7972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HMS automates hospital operations — patient registration, room management, medical records, medicine dispensary, billing, secure PDF reporting, and Email 2FA. Built with a 5-layer OOP architecture featuring role-based access control for Clerk, Physician, and Nurse.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384120" y="2176200"/>
            <a:ext cx="1572120" cy="14166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951120" y="2286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8"/>
          <p:cNvSpPr/>
          <p:nvPr/>
        </p:nvSpPr>
        <p:spPr>
          <a:xfrm>
            <a:off x="384120" y="2743200"/>
            <a:ext cx="1572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FFD4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384120" y="3255120"/>
            <a:ext cx="1572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Architecture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Layers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2066400" y="2176200"/>
            <a:ext cx="1572120" cy="14166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2"/>
          <a:stretch/>
        </p:blipFill>
        <p:spPr>
          <a:xfrm>
            <a:off x="2633400" y="2286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1"/>
          <p:cNvSpPr/>
          <p:nvPr/>
        </p:nvSpPr>
        <p:spPr>
          <a:xfrm>
            <a:off x="2066400" y="2743200"/>
            <a:ext cx="1572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B700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2066400" y="3255120"/>
            <a:ext cx="1572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Database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Tables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3749040" y="2176200"/>
            <a:ext cx="1572120" cy="14166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2" descr="preencoded.png"/>
          <p:cNvPicPr/>
          <p:nvPr/>
        </p:nvPicPr>
        <p:blipFill>
          <a:blip r:embed="rId3"/>
          <a:stretch/>
        </p:blipFill>
        <p:spPr>
          <a:xfrm>
            <a:off x="4316040" y="2286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4"/>
          <p:cNvSpPr/>
          <p:nvPr/>
        </p:nvSpPr>
        <p:spPr>
          <a:xfrm>
            <a:off x="3749040" y="2743200"/>
            <a:ext cx="1572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2D78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3749040" y="3255120"/>
            <a:ext cx="1572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User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Roles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6"/>
          <p:cNvSpPr/>
          <p:nvPr/>
        </p:nvSpPr>
        <p:spPr>
          <a:xfrm>
            <a:off x="5431680" y="2176200"/>
            <a:ext cx="1572120" cy="14166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5998320" y="2286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7"/>
          <p:cNvSpPr/>
          <p:nvPr/>
        </p:nvSpPr>
        <p:spPr>
          <a:xfrm>
            <a:off x="5431680" y="2743200"/>
            <a:ext cx="1572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9D4EDD"/>
                </a:solidFill>
                <a:effectLst/>
                <a:uFillTx/>
                <a:latin typeface="Cambria"/>
                <a:ea typeface="Cambria"/>
              </a:rPr>
              <a:t>19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5431680" y="3255120"/>
            <a:ext cx="1572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Java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Classes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7113960" y="2176200"/>
            <a:ext cx="1572120" cy="14166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4" descr="preencoded.png"/>
          <p:cNvPicPr/>
          <p:nvPr/>
        </p:nvPicPr>
        <p:blipFill>
          <a:blip r:embed="rId5"/>
          <a:stretch/>
        </p:blipFill>
        <p:spPr>
          <a:xfrm>
            <a:off x="7680960" y="2286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20"/>
          <p:cNvSpPr/>
          <p:nvPr/>
        </p:nvSpPr>
        <p:spPr>
          <a:xfrm>
            <a:off x="7113960" y="2743200"/>
            <a:ext cx="1572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FF9F"/>
                </a:solidFill>
                <a:effectLst/>
                <a:uFillTx/>
                <a:latin typeface="Cambria"/>
                <a:ea typeface="Cambria"/>
              </a:rPr>
              <a:t>25+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7113960" y="3255120"/>
            <a:ext cx="1572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Test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Cases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384120" y="3749040"/>
            <a:ext cx="2010960" cy="1169640"/>
          </a:xfrm>
          <a:prstGeom prst="roundRect">
            <a:avLst>
              <a:gd name="adj" fmla="val 7813"/>
            </a:avLst>
          </a:prstGeom>
          <a:solidFill>
            <a:srgbClr val="0F1A2E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5" descr="preencoded.png"/>
          <p:cNvPicPr/>
          <p:nvPr/>
        </p:nvPicPr>
        <p:blipFill>
          <a:blip r:embed="rId6"/>
          <a:stretch/>
        </p:blipFill>
        <p:spPr>
          <a:xfrm>
            <a:off x="1170360" y="3840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23"/>
          <p:cNvSpPr/>
          <p:nvPr/>
        </p:nvSpPr>
        <p:spPr>
          <a:xfrm>
            <a:off x="384120" y="4316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Role-Based Access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384120" y="4626720"/>
            <a:ext cx="20109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Clerk · Physician · Nurse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5"/>
          <p:cNvSpPr/>
          <p:nvPr/>
        </p:nvSpPr>
        <p:spPr>
          <a:xfrm>
            <a:off x="2523600" y="3749040"/>
            <a:ext cx="2010960" cy="1169640"/>
          </a:xfrm>
          <a:prstGeom prst="roundRect">
            <a:avLst>
              <a:gd name="adj" fmla="val 7813"/>
            </a:avLst>
          </a:prstGeom>
          <a:solidFill>
            <a:srgbClr val="0F1A2E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6" descr="preencoded.png"/>
          <p:cNvPicPr/>
          <p:nvPr/>
        </p:nvPicPr>
        <p:blipFill>
          <a:blip r:embed="rId7"/>
          <a:stretch/>
        </p:blipFill>
        <p:spPr>
          <a:xfrm>
            <a:off x="3310200" y="3840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26"/>
          <p:cNvSpPr/>
          <p:nvPr/>
        </p:nvSpPr>
        <p:spPr>
          <a:xfrm>
            <a:off x="2523600" y="4316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Enterprise Security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2523600" y="4626720"/>
            <a:ext cx="20109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2FA · Lock · Audit Trail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8"/>
          <p:cNvSpPr/>
          <p:nvPr/>
        </p:nvSpPr>
        <p:spPr>
          <a:xfrm>
            <a:off x="4663440" y="3749040"/>
            <a:ext cx="2010960" cy="1169640"/>
          </a:xfrm>
          <a:prstGeom prst="roundRect">
            <a:avLst>
              <a:gd name="adj" fmla="val 7813"/>
            </a:avLst>
          </a:prstGeom>
          <a:solidFill>
            <a:srgbClr val="0F1A2E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7" descr="preencoded.png"/>
          <p:cNvPicPr/>
          <p:nvPr/>
        </p:nvPicPr>
        <p:blipFill>
          <a:blip r:embed="rId8"/>
          <a:stretch/>
        </p:blipFill>
        <p:spPr>
          <a:xfrm>
            <a:off x="5449680" y="3840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29"/>
          <p:cNvSpPr/>
          <p:nvPr/>
        </p:nvSpPr>
        <p:spPr>
          <a:xfrm>
            <a:off x="4663440" y="4316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Full CRUD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0"/>
          <p:cNvSpPr/>
          <p:nvPr/>
        </p:nvSpPr>
        <p:spPr>
          <a:xfrm>
            <a:off x="4663440" y="4626720"/>
            <a:ext cx="20109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Patient · Room · Medicine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1"/>
          <p:cNvSpPr/>
          <p:nvPr/>
        </p:nvSpPr>
        <p:spPr>
          <a:xfrm>
            <a:off x="6803280" y="3749040"/>
            <a:ext cx="2010960" cy="1169640"/>
          </a:xfrm>
          <a:prstGeom prst="roundRect">
            <a:avLst>
              <a:gd name="adj" fmla="val 7813"/>
            </a:avLst>
          </a:prstGeom>
          <a:solidFill>
            <a:srgbClr val="0F1A2E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8" descr="preencoded.png"/>
          <p:cNvPicPr/>
          <p:nvPr/>
        </p:nvPicPr>
        <p:blipFill>
          <a:blip r:embed="rId9"/>
          <a:stretch/>
        </p:blipFill>
        <p:spPr>
          <a:xfrm>
            <a:off x="7589520" y="3840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32"/>
          <p:cNvSpPr/>
          <p:nvPr/>
        </p:nvSpPr>
        <p:spPr>
          <a:xfrm>
            <a:off x="6803280" y="4316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PDF Reports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3"/>
          <p:cNvSpPr/>
          <p:nvPr/>
        </p:nvSpPr>
        <p:spPr>
          <a:xfrm>
            <a:off x="6803280" y="4626720"/>
            <a:ext cx="20109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4 modules · PDF + CSV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429120" y="38520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FFB700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Technology Stack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FFB700"/>
                </a:solidFill>
                <a:effectLst/>
                <a:uFillTx/>
                <a:latin typeface="Calibri"/>
              </a:rPr>
              <a:t>Java · JavaFX · MySql · Intellij · Kali Linux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6886440" y="-2514240"/>
            <a:ext cx="3656880" cy="3656880"/>
          </a:xfrm>
          <a:prstGeom prst="ellipse">
            <a:avLst/>
          </a:prstGeom>
          <a:solidFill>
            <a:srgbClr val="FFB700">
              <a:alpha val="7000"/>
            </a:srgbClr>
          </a:solidFill>
          <a:ln w="12700">
            <a:solidFill>
              <a:srgbClr val="FFB70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FF2D78">
              <a:alpha val="10000"/>
            </a:srgbClr>
          </a:solidFill>
          <a:ln w="12700">
            <a:solidFill>
              <a:srgbClr val="FF2D7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B4FF"/>
                </a:solidFill>
                <a:effectLst/>
                <a:uFillTx/>
                <a:latin typeface="Calibri"/>
              </a:rPr>
              <a:t>TECHNOLOGY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Tech Stack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85200" y="1143000"/>
            <a:ext cx="2010960" cy="182844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347400" y="1170360"/>
            <a:ext cx="201096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1134000" y="1353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6"/>
          <p:cNvSpPr/>
          <p:nvPr/>
        </p:nvSpPr>
        <p:spPr>
          <a:xfrm>
            <a:off x="347400" y="18655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Java 25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347400" y="219456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Core Language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621720" y="2487240"/>
            <a:ext cx="1462320" cy="17640"/>
          </a:xfrm>
          <a:prstGeom prst="rect">
            <a:avLst/>
          </a:prstGeom>
          <a:solidFill>
            <a:srgbClr val="00FFD4">
              <a:alpha val="35000"/>
            </a:srgbClr>
          </a:solidFill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420480" y="234432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OOP · JDBC · Streams · OpenJDK 25.0.3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2505600" y="1170360"/>
            <a:ext cx="2010960" cy="180108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2505600" y="1170360"/>
            <a:ext cx="2010960" cy="54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1" descr="preencoded.png"/>
          <p:cNvPicPr/>
          <p:nvPr/>
        </p:nvPicPr>
        <p:blipFill>
          <a:blip r:embed="rId2"/>
          <a:stretch/>
        </p:blipFill>
        <p:spPr>
          <a:xfrm>
            <a:off x="3291840" y="1353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12"/>
          <p:cNvSpPr/>
          <p:nvPr/>
        </p:nvSpPr>
        <p:spPr>
          <a:xfrm>
            <a:off x="2505600" y="18655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JavaFX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2505600" y="219456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GUI Framework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2779920" y="2487240"/>
            <a:ext cx="1462320" cy="17640"/>
          </a:xfrm>
          <a:prstGeom prst="rect">
            <a:avLst/>
          </a:prstGeom>
          <a:solidFill>
            <a:srgbClr val="00B4FF">
              <a:alpha val="35000"/>
            </a:srgbClr>
          </a:solidFill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2578680" y="230832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SDK 21 &amp; 25 · Scenes · Tables · Animations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4663440" y="1170360"/>
            <a:ext cx="2010960" cy="180108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4663440" y="1170360"/>
            <a:ext cx="201096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2" descr="preencoded.png"/>
          <p:cNvPicPr/>
          <p:nvPr/>
        </p:nvPicPr>
        <p:blipFill>
          <a:blip r:embed="rId3"/>
          <a:stretch/>
        </p:blipFill>
        <p:spPr>
          <a:xfrm>
            <a:off x="5449680" y="1353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8"/>
          <p:cNvSpPr/>
          <p:nvPr/>
        </p:nvSpPr>
        <p:spPr>
          <a:xfrm>
            <a:off x="4663440" y="18655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MySQL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4663440" y="219456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Database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4937760" y="2487240"/>
            <a:ext cx="1462320" cy="17640"/>
          </a:xfrm>
          <a:prstGeom prst="rect">
            <a:avLst/>
          </a:prstGeom>
          <a:solidFill>
            <a:srgbClr val="FFB700">
              <a:alpha val="35000"/>
            </a:srgbClr>
          </a:solidFill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4736520" y="230832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hospital_db · 10 Tables · FK Constraints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6821280" y="1170360"/>
            <a:ext cx="2010960" cy="180108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6821280" y="1170360"/>
            <a:ext cx="201096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3" descr="preencoded.png"/>
          <p:cNvPicPr/>
          <p:nvPr/>
        </p:nvPicPr>
        <p:blipFill>
          <a:blip r:embed="rId4"/>
          <a:stretch/>
        </p:blipFill>
        <p:spPr>
          <a:xfrm>
            <a:off x="7607880" y="1353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24"/>
          <p:cNvSpPr/>
          <p:nvPr/>
        </p:nvSpPr>
        <p:spPr>
          <a:xfrm>
            <a:off x="6821280" y="18655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Kali Linux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5"/>
          <p:cNvSpPr/>
          <p:nvPr/>
        </p:nvSpPr>
        <p:spPr>
          <a:xfrm>
            <a:off x="6821280" y="219456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Platform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6"/>
          <p:cNvSpPr/>
          <p:nvPr/>
        </p:nvSpPr>
        <p:spPr>
          <a:xfrm>
            <a:off x="7095600" y="2487240"/>
            <a:ext cx="1462320" cy="17640"/>
          </a:xfrm>
          <a:prstGeom prst="rect">
            <a:avLst/>
          </a:prstGeom>
          <a:solidFill>
            <a:srgbClr val="FF2D78">
              <a:alpha val="35000"/>
            </a:srgbClr>
          </a:solidFill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7"/>
          <p:cNvSpPr/>
          <p:nvPr/>
        </p:nvSpPr>
        <p:spPr>
          <a:xfrm>
            <a:off x="6894720" y="230832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Latest · Dev &amp; Deployment Environment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8"/>
          <p:cNvSpPr/>
          <p:nvPr/>
        </p:nvSpPr>
        <p:spPr>
          <a:xfrm>
            <a:off x="347400" y="3200400"/>
            <a:ext cx="2010960" cy="182844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9"/>
          <p:cNvSpPr/>
          <p:nvPr/>
        </p:nvSpPr>
        <p:spPr>
          <a:xfrm>
            <a:off x="347400" y="3657600"/>
            <a:ext cx="2010960" cy="54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4" descr="preencoded.png"/>
          <p:cNvPicPr/>
          <p:nvPr/>
        </p:nvPicPr>
        <p:blipFill>
          <a:blip r:embed="rId5"/>
          <a:stretch/>
        </p:blipFill>
        <p:spPr>
          <a:xfrm>
            <a:off x="1134000" y="3480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30"/>
          <p:cNvSpPr/>
          <p:nvPr/>
        </p:nvSpPr>
        <p:spPr>
          <a:xfrm>
            <a:off x="347400" y="400536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IntelliJ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1"/>
          <p:cNvSpPr/>
          <p:nvPr/>
        </p:nvSpPr>
        <p:spPr>
          <a:xfrm>
            <a:off x="347400" y="432180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2"/>
          <p:cNvSpPr/>
          <p:nvPr/>
        </p:nvSpPr>
        <p:spPr>
          <a:xfrm>
            <a:off x="621720" y="4614480"/>
            <a:ext cx="1462320" cy="17640"/>
          </a:xfrm>
          <a:prstGeom prst="rect">
            <a:avLst/>
          </a:prstGeom>
          <a:solidFill>
            <a:srgbClr val="9D4EDD">
              <a:alpha val="35000"/>
            </a:srgbClr>
          </a:solidFill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3"/>
          <p:cNvSpPr/>
          <p:nvPr/>
        </p:nvSpPr>
        <p:spPr>
          <a:xfrm>
            <a:off x="420480" y="432756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Ultimate 2026 · Build · Debug · Run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4"/>
          <p:cNvSpPr/>
          <p:nvPr/>
        </p:nvSpPr>
        <p:spPr>
          <a:xfrm>
            <a:off x="2514600" y="3177000"/>
            <a:ext cx="2010960" cy="185184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5"/>
          <p:cNvSpPr/>
          <p:nvPr/>
        </p:nvSpPr>
        <p:spPr>
          <a:xfrm>
            <a:off x="2505600" y="3657600"/>
            <a:ext cx="201096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5" descr="preencoded.png"/>
          <p:cNvPicPr/>
          <p:nvPr/>
        </p:nvPicPr>
        <p:blipFill>
          <a:blip r:embed="rId6"/>
          <a:stretch/>
        </p:blipFill>
        <p:spPr>
          <a:xfrm>
            <a:off x="3291840" y="344772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36"/>
          <p:cNvSpPr/>
          <p:nvPr/>
        </p:nvSpPr>
        <p:spPr>
          <a:xfrm>
            <a:off x="2505600" y="40284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iText PDF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7"/>
          <p:cNvSpPr/>
          <p:nvPr/>
        </p:nvSpPr>
        <p:spPr>
          <a:xfrm>
            <a:off x="2524680" y="434340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PDF Library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8"/>
          <p:cNvSpPr/>
          <p:nvPr/>
        </p:nvSpPr>
        <p:spPr>
          <a:xfrm>
            <a:off x="2779920" y="4614480"/>
            <a:ext cx="1462320" cy="17640"/>
          </a:xfrm>
          <a:prstGeom prst="rect">
            <a:avLst/>
          </a:prstGeom>
          <a:solidFill>
            <a:srgbClr val="00FF9F">
              <a:alpha val="35000"/>
            </a:srgbClr>
          </a:solidFill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9"/>
          <p:cNvSpPr/>
          <p:nvPr/>
        </p:nvSpPr>
        <p:spPr>
          <a:xfrm>
            <a:off x="2578680" y="443556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5.5.13.3 · Bills &amp; Reports Export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0"/>
          <p:cNvSpPr/>
          <p:nvPr/>
        </p:nvSpPr>
        <p:spPr>
          <a:xfrm>
            <a:off x="4663440" y="3200400"/>
            <a:ext cx="2010960" cy="182844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1"/>
          <p:cNvSpPr/>
          <p:nvPr/>
        </p:nvSpPr>
        <p:spPr>
          <a:xfrm>
            <a:off x="4663440" y="3657600"/>
            <a:ext cx="201096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6" descr="preencoded.png"/>
          <p:cNvPicPr/>
          <p:nvPr/>
        </p:nvPicPr>
        <p:blipFill>
          <a:blip r:embed="rId7"/>
          <a:stretch/>
        </p:blipFill>
        <p:spPr>
          <a:xfrm>
            <a:off x="5401080" y="3429000"/>
            <a:ext cx="486720" cy="48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42"/>
          <p:cNvSpPr/>
          <p:nvPr/>
        </p:nvSpPr>
        <p:spPr>
          <a:xfrm>
            <a:off x="4663440" y="40284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Jakarta Mail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3"/>
          <p:cNvSpPr/>
          <p:nvPr/>
        </p:nvSpPr>
        <p:spPr>
          <a:xfrm>
            <a:off x="4663440" y="432180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Email SMTP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4"/>
          <p:cNvSpPr/>
          <p:nvPr/>
        </p:nvSpPr>
        <p:spPr>
          <a:xfrm>
            <a:off x="4937760" y="4614480"/>
            <a:ext cx="1462320" cy="17640"/>
          </a:xfrm>
          <a:prstGeom prst="rect">
            <a:avLst/>
          </a:prstGeom>
          <a:solidFill>
            <a:srgbClr val="00FFD4">
              <a:alpha val="35000"/>
            </a:srgbClr>
          </a:solidFill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5"/>
          <p:cNvSpPr/>
          <p:nvPr/>
        </p:nvSpPr>
        <p:spPr>
          <a:xfrm>
            <a:off x="4736520" y="443556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2.0.1 · Gmail SMTP · 2FA OTP Delivery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6"/>
          <p:cNvSpPr/>
          <p:nvPr/>
        </p:nvSpPr>
        <p:spPr>
          <a:xfrm>
            <a:off x="6821280" y="3213000"/>
            <a:ext cx="2010960" cy="1851840"/>
          </a:xfrm>
          <a:prstGeom prst="roundRect">
            <a:avLst>
              <a:gd name="adj" fmla="val 6364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7"/>
          <p:cNvSpPr/>
          <p:nvPr/>
        </p:nvSpPr>
        <p:spPr>
          <a:xfrm>
            <a:off x="6821280" y="3621600"/>
            <a:ext cx="201096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7" descr="preencoded.png"/>
          <p:cNvPicPr/>
          <p:nvPr/>
        </p:nvPicPr>
        <p:blipFill>
          <a:blip r:embed="rId8"/>
          <a:stretch/>
        </p:blipFill>
        <p:spPr>
          <a:xfrm>
            <a:off x="7484400" y="3429000"/>
            <a:ext cx="597600" cy="59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48"/>
          <p:cNvSpPr/>
          <p:nvPr/>
        </p:nvSpPr>
        <p:spPr>
          <a:xfrm>
            <a:off x="6821280" y="40284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MySQL J/9.3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9"/>
          <p:cNvSpPr/>
          <p:nvPr/>
        </p:nvSpPr>
        <p:spPr>
          <a:xfrm>
            <a:off x="6821280" y="432180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DB Connector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0"/>
          <p:cNvSpPr/>
          <p:nvPr/>
        </p:nvSpPr>
        <p:spPr>
          <a:xfrm>
            <a:off x="7095600" y="4650480"/>
            <a:ext cx="1462320" cy="17640"/>
          </a:xfrm>
          <a:prstGeom prst="rect">
            <a:avLst/>
          </a:prstGeom>
          <a:solidFill>
            <a:srgbClr val="FFB700">
              <a:alpha val="35000"/>
            </a:srgbClr>
          </a:solidFill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1"/>
          <p:cNvSpPr/>
          <p:nvPr/>
        </p:nvSpPr>
        <p:spPr>
          <a:xfrm>
            <a:off x="6894720" y="4435560"/>
            <a:ext cx="1864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Connector/J 9.3.0 · JDBC Bridge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457200" y="47592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9D4EDD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System Architecture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9D4EDD"/>
                </a:solidFill>
                <a:effectLst/>
                <a:uFillTx/>
                <a:latin typeface="Calibri"/>
              </a:rPr>
              <a:t>5-layer clean separation of concerns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9D4EDD">
              <a:alpha val="7000"/>
            </a:srgbClr>
          </a:solidFill>
          <a:ln w="12700">
            <a:solidFill>
              <a:srgbClr val="9D4EDD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B4FF">
              <a:alpha val="10000"/>
            </a:srgbClr>
          </a:solidFill>
          <a:ln w="12700">
            <a:solidFill>
              <a:srgbClr val="00B4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9D4EDD"/>
                </a:solidFill>
                <a:effectLst/>
                <a:uFillTx/>
                <a:latin typeface="Calibri"/>
              </a:rPr>
              <a:t>ARCHITECTURE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5-Layer Architecture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"/>
          <p:cNvSpPr/>
          <p:nvPr/>
        </p:nvSpPr>
        <p:spPr>
          <a:xfrm>
            <a:off x="384120" y="1099080"/>
            <a:ext cx="8375040" cy="584280"/>
          </a:xfrm>
          <a:prstGeom prst="roundRect">
            <a:avLst>
              <a:gd name="adj" fmla="val 11364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384120" y="1099080"/>
            <a:ext cx="8375040" cy="54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503280" y="116100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6"/>
          <p:cNvSpPr/>
          <p:nvPr/>
        </p:nvSpPr>
        <p:spPr>
          <a:xfrm>
            <a:off x="987480" y="1172160"/>
            <a:ext cx="5028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Layer 1 — PRESENTATION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932760" y="1350720"/>
            <a:ext cx="5083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JavaFX GUI — Login · OTP Screen · Clerk / Physician / Nurse Dashboards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6674760" y="1221120"/>
            <a:ext cx="19652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6629400" y="11998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5 screens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0"/>
          <p:cNvSpPr/>
          <p:nvPr/>
        </p:nvSpPr>
        <p:spPr>
          <a:xfrm>
            <a:off x="4526280" y="1965960"/>
            <a:ext cx="360" cy="109440"/>
          </a:xfrm>
          <a:prstGeom prst="line">
            <a:avLst/>
          </a:prstGeom>
          <a:ln w="25400">
            <a:solidFill>
              <a:srgbClr val="00B4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548640" y="1762920"/>
            <a:ext cx="8046000" cy="696240"/>
          </a:xfrm>
          <a:prstGeom prst="roundRect">
            <a:avLst>
              <a:gd name="adj" fmla="val 11364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2"/>
          <p:cNvSpPr/>
          <p:nvPr/>
        </p:nvSpPr>
        <p:spPr>
          <a:xfrm>
            <a:off x="548640" y="2075760"/>
            <a:ext cx="804600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1" descr="preencoded.png"/>
          <p:cNvPicPr/>
          <p:nvPr/>
        </p:nvPicPr>
        <p:blipFill>
          <a:blip r:embed="rId2"/>
          <a:stretch/>
        </p:blipFill>
        <p:spPr>
          <a:xfrm>
            <a:off x="676800" y="188568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 13"/>
          <p:cNvSpPr/>
          <p:nvPr/>
        </p:nvSpPr>
        <p:spPr>
          <a:xfrm>
            <a:off x="1134360" y="1870560"/>
            <a:ext cx="5028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Layer 2 — CONTROLLER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4"/>
          <p:cNvSpPr/>
          <p:nvPr/>
        </p:nvSpPr>
        <p:spPr>
          <a:xfrm>
            <a:off x="1152360" y="205776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HospitalManagementSystem · MedicineController · BillingController · ReportGen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6468840" y="1917360"/>
            <a:ext cx="19652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6492240" y="1546920"/>
            <a:ext cx="1965240" cy="11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4 classes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4526280" y="2898360"/>
            <a:ext cx="360" cy="109800"/>
          </a:xfrm>
          <a:prstGeom prst="line">
            <a:avLst/>
          </a:prstGeom>
          <a:ln w="25400">
            <a:solidFill>
              <a:srgbClr val="00FFD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740520" y="2577240"/>
            <a:ext cx="7716960" cy="652680"/>
          </a:xfrm>
          <a:prstGeom prst="roundRect">
            <a:avLst>
              <a:gd name="adj" fmla="val 11364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713160" y="3008520"/>
            <a:ext cx="771696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2" descr="preencoded.png"/>
          <p:cNvPicPr/>
          <p:nvPr/>
        </p:nvPicPr>
        <p:blipFill>
          <a:blip r:embed="rId3"/>
          <a:stretch/>
        </p:blipFill>
        <p:spPr>
          <a:xfrm>
            <a:off x="840960" y="263376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20"/>
          <p:cNvSpPr/>
          <p:nvPr/>
        </p:nvSpPr>
        <p:spPr>
          <a:xfrm>
            <a:off x="1280160" y="2613240"/>
            <a:ext cx="5028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Layer 3 — SECURITY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1270440" y="2807280"/>
            <a:ext cx="442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SecurityManager · SessionManager · EmailOTPService — auth, 2FA, timeout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6309000" y="2754720"/>
            <a:ext cx="19652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6318360" y="278676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3 classes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4526280" y="3831120"/>
            <a:ext cx="360" cy="109800"/>
          </a:xfrm>
          <a:prstGeom prst="line">
            <a:avLst/>
          </a:prstGeom>
          <a:ln w="25400">
            <a:solidFill>
              <a:srgbClr val="FF2D78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5"/>
          <p:cNvSpPr/>
          <p:nvPr/>
        </p:nvSpPr>
        <p:spPr>
          <a:xfrm>
            <a:off x="877680" y="3348000"/>
            <a:ext cx="7387560" cy="714600"/>
          </a:xfrm>
          <a:prstGeom prst="roundRect">
            <a:avLst>
              <a:gd name="adj" fmla="val 11364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886680" y="3963960"/>
            <a:ext cx="738756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3" descr="preencoded.png"/>
          <p:cNvPicPr/>
          <p:nvPr/>
        </p:nvPicPr>
        <p:blipFill>
          <a:blip r:embed="rId4"/>
          <a:stretch/>
        </p:blipFill>
        <p:spPr>
          <a:xfrm>
            <a:off x="1069560" y="353412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7"/>
          <p:cNvSpPr/>
          <p:nvPr/>
        </p:nvSpPr>
        <p:spPr>
          <a:xfrm>
            <a:off x="1554120" y="3349080"/>
            <a:ext cx="5028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Layer 4 — DATA ACCESS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1554120" y="3666960"/>
            <a:ext cx="4282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DatabaseConnection.java — MySQL JDBC Singleton — single shared connection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pool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6163200" y="3566160"/>
            <a:ext cx="19652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6148800" y="353304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Singleton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4526280" y="4763880"/>
            <a:ext cx="360" cy="109800"/>
          </a:xfrm>
          <a:prstGeom prst="line">
            <a:avLst/>
          </a:prstGeom>
          <a:ln w="25400">
            <a:solidFill>
              <a:srgbClr val="FFB700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2"/>
          <p:cNvSpPr/>
          <p:nvPr/>
        </p:nvSpPr>
        <p:spPr>
          <a:xfrm>
            <a:off x="1051200" y="4215960"/>
            <a:ext cx="7058520" cy="711720"/>
          </a:xfrm>
          <a:prstGeom prst="roundRect">
            <a:avLst>
              <a:gd name="adj" fmla="val 11364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1042560" y="4873680"/>
            <a:ext cx="7058520" cy="54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4" descr="preencoded.png"/>
          <p:cNvPicPr/>
          <p:nvPr/>
        </p:nvPicPr>
        <p:blipFill>
          <a:blip r:embed="rId5"/>
          <a:stretch/>
        </p:blipFill>
        <p:spPr>
          <a:xfrm>
            <a:off x="1245600" y="4271760"/>
            <a:ext cx="40176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34"/>
          <p:cNvSpPr/>
          <p:nvPr/>
        </p:nvSpPr>
        <p:spPr>
          <a:xfrm>
            <a:off x="1677960" y="4242240"/>
            <a:ext cx="5028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Layer 5 — MODEL / OOP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5"/>
          <p:cNvSpPr/>
          <p:nvPr/>
        </p:nvSpPr>
        <p:spPr>
          <a:xfrm>
            <a:off x="1669680" y="4555800"/>
            <a:ext cx="3766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User (abstract) · Clerk · Physician · Nurse · Patient · Rooms · PatientRecord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6"/>
          <p:cNvSpPr/>
          <p:nvPr/>
        </p:nvSpPr>
        <p:spPr>
          <a:xfrm>
            <a:off x="5998320" y="4371840"/>
            <a:ext cx="19652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7"/>
          <p:cNvSpPr/>
          <p:nvPr/>
        </p:nvSpPr>
        <p:spPr>
          <a:xfrm>
            <a:off x="6040800" y="43516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10 models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429120" y="38520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FFB700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OOP Concepts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FFB700"/>
                </a:solidFill>
                <a:effectLst/>
                <a:uFillTx/>
                <a:latin typeface="Calibri"/>
              </a:rPr>
              <a:t>Inheritance · Encapsulation · Polymorphism · Abstraction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FFB700">
              <a:alpha val="7000"/>
            </a:srgbClr>
          </a:solidFill>
          <a:ln w="12700">
            <a:solidFill>
              <a:srgbClr val="FFB70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FF2D78">
              <a:alpha val="10000"/>
            </a:srgbClr>
          </a:solidFill>
          <a:ln w="12700">
            <a:solidFill>
              <a:srgbClr val="FF2D7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FFB700"/>
                </a:solidFill>
                <a:effectLst/>
                <a:uFillTx/>
                <a:latin typeface="Calibri"/>
              </a:rPr>
              <a:t>OOP PILLARS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 Pillars in Action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329400" y="1155960"/>
            <a:ext cx="4205520" cy="1945440"/>
          </a:xfrm>
          <a:prstGeom prst="roundRect">
            <a:avLst>
              <a:gd name="adj" fmla="val 5147"/>
            </a:avLst>
          </a:prstGeom>
          <a:solidFill>
            <a:srgbClr val="0A1020"/>
          </a:solidFill>
          <a:ln w="2286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365760" y="1143000"/>
            <a:ext cx="420552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0" descr="preencoded.png"/>
          <p:cNvPicPr/>
          <p:nvPr/>
        </p:nvPicPr>
        <p:blipFill>
          <a:blip r:embed="rId1"/>
          <a:stretch/>
        </p:blipFill>
        <p:spPr>
          <a:xfrm>
            <a:off x="493920" y="127116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6"/>
          <p:cNvSpPr/>
          <p:nvPr/>
        </p:nvSpPr>
        <p:spPr>
          <a:xfrm>
            <a:off x="888120" y="120600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Inheritance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449640" y="1563840"/>
            <a:ext cx="2266920" cy="12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Abstract User class extended by Clerk, Physician &amp; Nurse — shared attributes with forced method contracts via abstract displayMenu().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8"/>
          <p:cNvSpPr/>
          <p:nvPr/>
        </p:nvSpPr>
        <p:spPr>
          <a:xfrm>
            <a:off x="2716920" y="1298160"/>
            <a:ext cx="1608480" cy="1682280"/>
          </a:xfrm>
          <a:prstGeom prst="roundRect">
            <a:avLst>
              <a:gd name="adj" fmla="val 4545"/>
            </a:avLst>
          </a:prstGeom>
          <a:solidFill>
            <a:srgbClr val="060B14"/>
          </a:solidFill>
          <a:ln w="1270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9"/>
          <p:cNvSpPr/>
          <p:nvPr/>
        </p:nvSpPr>
        <p:spPr>
          <a:xfrm>
            <a:off x="2865240" y="1444680"/>
            <a:ext cx="1312200" cy="14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abstract class User {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abstract void displayMenu();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class Clerk extends User { ... 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class Physician extends User { ... 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class Nurse extends User { ... 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0"/>
          <p:cNvSpPr/>
          <p:nvPr/>
        </p:nvSpPr>
        <p:spPr>
          <a:xfrm>
            <a:off x="4773240" y="1143000"/>
            <a:ext cx="4205520" cy="1945440"/>
          </a:xfrm>
          <a:prstGeom prst="roundRect">
            <a:avLst>
              <a:gd name="adj" fmla="val 5147"/>
            </a:avLst>
          </a:prstGeom>
          <a:solidFill>
            <a:srgbClr val="0A1020"/>
          </a:solidFill>
          <a:ln w="228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1"/>
          <p:cNvSpPr/>
          <p:nvPr/>
        </p:nvSpPr>
        <p:spPr>
          <a:xfrm>
            <a:off x="4773240" y="1143000"/>
            <a:ext cx="420552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1" descr="preencoded.png"/>
          <p:cNvPicPr/>
          <p:nvPr/>
        </p:nvPicPr>
        <p:blipFill>
          <a:blip r:embed="rId2"/>
          <a:stretch/>
        </p:blipFill>
        <p:spPr>
          <a:xfrm>
            <a:off x="4901040" y="127116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12"/>
          <p:cNvSpPr/>
          <p:nvPr/>
        </p:nvSpPr>
        <p:spPr>
          <a:xfrm>
            <a:off x="5340240" y="123444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Encapsulation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3"/>
          <p:cNvSpPr/>
          <p:nvPr/>
        </p:nvSpPr>
        <p:spPr>
          <a:xfrm>
            <a:off x="4947120" y="1252440"/>
            <a:ext cx="2266920" cy="18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All attributes private. Public getters/setters expose data safely. DatabaseConnection wraps MySQL connection as private static field.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4"/>
          <p:cNvSpPr/>
          <p:nvPr/>
        </p:nvSpPr>
        <p:spPr>
          <a:xfrm>
            <a:off x="7113960" y="1371600"/>
            <a:ext cx="1608480" cy="1504440"/>
          </a:xfrm>
          <a:prstGeom prst="roundRect">
            <a:avLst>
              <a:gd name="adj" fmla="val 4545"/>
            </a:avLst>
          </a:prstGeom>
          <a:solidFill>
            <a:srgbClr val="060B14"/>
          </a:solidFill>
          <a:ln w="1270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"/>
          <p:cNvSpPr/>
          <p:nvPr/>
        </p:nvSpPr>
        <p:spPr>
          <a:xfrm>
            <a:off x="7260480" y="1206720"/>
            <a:ext cx="14256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private String name;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private int id;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public String getName() {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return name;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public void setName(String n) {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this.name = n;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6"/>
          <p:cNvSpPr/>
          <p:nvPr/>
        </p:nvSpPr>
        <p:spPr>
          <a:xfrm>
            <a:off x="306000" y="3273480"/>
            <a:ext cx="4205520" cy="1755360"/>
          </a:xfrm>
          <a:prstGeom prst="roundRect">
            <a:avLst>
              <a:gd name="adj" fmla="val 5147"/>
            </a:avLst>
          </a:prstGeom>
          <a:solidFill>
            <a:srgbClr val="0A1020"/>
          </a:solidFill>
          <a:ln w="228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7"/>
          <p:cNvSpPr/>
          <p:nvPr/>
        </p:nvSpPr>
        <p:spPr>
          <a:xfrm>
            <a:off x="365760" y="3776400"/>
            <a:ext cx="420552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2" descr="preencoded.png"/>
          <p:cNvPicPr/>
          <p:nvPr/>
        </p:nvPicPr>
        <p:blipFill>
          <a:blip r:embed="rId3"/>
          <a:stretch/>
        </p:blipFill>
        <p:spPr>
          <a:xfrm>
            <a:off x="493920" y="346824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18"/>
          <p:cNvSpPr/>
          <p:nvPr/>
        </p:nvSpPr>
        <p:spPr>
          <a:xfrm>
            <a:off x="851400" y="342900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Polymorphism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457200" y="3438360"/>
            <a:ext cx="226692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showDashboard(User u) accepts any User object and dynamically dispatches to the correct role-specific dashboard at runtime via instanceof.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0"/>
          <p:cNvSpPr/>
          <p:nvPr/>
        </p:nvSpPr>
        <p:spPr>
          <a:xfrm>
            <a:off x="2772000" y="3387600"/>
            <a:ext cx="1608480" cy="1480680"/>
          </a:xfrm>
          <a:prstGeom prst="roundRect">
            <a:avLst>
              <a:gd name="adj" fmla="val 4545"/>
            </a:avLst>
          </a:prstGeom>
          <a:solidFill>
            <a:srgbClr val="060B14"/>
          </a:solidFill>
          <a:ln w="1270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1"/>
          <p:cNvSpPr/>
          <p:nvPr/>
        </p:nvSpPr>
        <p:spPr>
          <a:xfrm>
            <a:off x="2865240" y="3465360"/>
            <a:ext cx="1460520" cy="13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void showDashboard(User u) {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if (u instanceof Clerk)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  showClerkDash();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else if (u instanceof Physician)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  showPhysicianDash();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2"/>
          <p:cNvSpPr/>
          <p:nvPr/>
        </p:nvSpPr>
        <p:spPr>
          <a:xfrm>
            <a:off x="4773240" y="3263040"/>
            <a:ext cx="4205520" cy="1765800"/>
          </a:xfrm>
          <a:prstGeom prst="roundRect">
            <a:avLst>
              <a:gd name="adj" fmla="val 5147"/>
            </a:avLst>
          </a:prstGeom>
          <a:solidFill>
            <a:srgbClr val="0A1020"/>
          </a:solidFill>
          <a:ln w="2286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3"/>
          <p:cNvSpPr/>
          <p:nvPr/>
        </p:nvSpPr>
        <p:spPr>
          <a:xfrm>
            <a:off x="4773240" y="3776400"/>
            <a:ext cx="4205520" cy="54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3" descr="preencoded.png"/>
          <p:cNvPicPr/>
          <p:nvPr/>
        </p:nvPicPr>
        <p:blipFill>
          <a:blip r:embed="rId4"/>
          <a:stretch/>
        </p:blipFill>
        <p:spPr>
          <a:xfrm>
            <a:off x="4947120" y="3429360"/>
            <a:ext cx="346680" cy="3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24"/>
          <p:cNvSpPr/>
          <p:nvPr/>
        </p:nvSpPr>
        <p:spPr>
          <a:xfrm>
            <a:off x="5340240" y="339588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Abstraction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4965840" y="3387600"/>
            <a:ext cx="2266920" cy="18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User declared abstract with abstract displayMenu() — forces all subclasses to implement their own menu, hiding internal logic from callers.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7251840" y="3347280"/>
            <a:ext cx="1608480" cy="1521360"/>
          </a:xfrm>
          <a:prstGeom prst="roundRect">
            <a:avLst>
              <a:gd name="adj" fmla="val 4545"/>
            </a:avLst>
          </a:prstGeom>
          <a:solidFill>
            <a:srgbClr val="060B14"/>
          </a:solidFill>
          <a:ln w="1270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7352280" y="3256920"/>
            <a:ext cx="14256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// Each role implements: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void displayMenu() {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// Clerk: Patients, Rooms,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//        Users, Billing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// Physician: Records, Meds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  // Nurse: Progress, View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FFD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D4"/>
                </a:solidFill>
                <a:effectLst/>
                <a:uFillTx/>
                <a:latin typeface="Calibri"/>
              </a:rPr>
              <a:t>CLASS DIAGRAM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OOP Class Hierarchy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3200400" y="1085400"/>
            <a:ext cx="2742480" cy="888840"/>
          </a:xfrm>
          <a:prstGeom prst="roundRect">
            <a:avLst>
              <a:gd name="adj" fmla="val 10435"/>
            </a:avLst>
          </a:prstGeom>
          <a:solidFill>
            <a:srgbClr val="0F1A2E"/>
          </a:solidFill>
          <a:ln w="2540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"/>
          <p:cNvSpPr/>
          <p:nvPr/>
        </p:nvSpPr>
        <p:spPr>
          <a:xfrm>
            <a:off x="3178440" y="1172880"/>
            <a:ext cx="274248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6"/>
          <p:cNvSpPr/>
          <p:nvPr/>
        </p:nvSpPr>
        <p:spPr>
          <a:xfrm>
            <a:off x="3236760" y="112932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«abstract»  User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"/>
          <p:cNvSpPr/>
          <p:nvPr/>
        </p:nvSpPr>
        <p:spPr>
          <a:xfrm>
            <a:off x="3291840" y="1357920"/>
            <a:ext cx="25596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- id : int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- name, username, password : String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abstract displayMenu() : void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8"/>
          <p:cNvSpPr/>
          <p:nvPr/>
        </p:nvSpPr>
        <p:spPr>
          <a:xfrm>
            <a:off x="4549680" y="1993320"/>
            <a:ext cx="360" cy="200880"/>
          </a:xfrm>
          <a:prstGeom prst="line">
            <a:avLst/>
          </a:prstGeom>
          <a:ln w="19050">
            <a:solidFill>
              <a:srgbClr val="00F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1727640" y="2188080"/>
            <a:ext cx="5760720" cy="360"/>
          </a:xfrm>
          <a:prstGeom prst="line">
            <a:avLst/>
          </a:prstGeom>
          <a:ln w="19050">
            <a:solidFill>
              <a:srgbClr val="00F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0"/>
          <p:cNvSpPr/>
          <p:nvPr/>
        </p:nvSpPr>
        <p:spPr>
          <a:xfrm>
            <a:off x="1719000" y="2178000"/>
            <a:ext cx="360" cy="201240"/>
          </a:xfrm>
          <a:prstGeom prst="line">
            <a:avLst/>
          </a:prstGeom>
          <a:ln w="19050">
            <a:solidFill>
              <a:srgbClr val="00F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1"/>
          <p:cNvSpPr/>
          <p:nvPr/>
        </p:nvSpPr>
        <p:spPr>
          <a:xfrm>
            <a:off x="4553280" y="2184840"/>
            <a:ext cx="360" cy="201240"/>
          </a:xfrm>
          <a:prstGeom prst="line">
            <a:avLst/>
          </a:prstGeom>
          <a:ln w="19050">
            <a:solidFill>
              <a:srgbClr val="00F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2"/>
          <p:cNvSpPr/>
          <p:nvPr/>
        </p:nvSpPr>
        <p:spPr>
          <a:xfrm>
            <a:off x="7495560" y="2184840"/>
            <a:ext cx="360" cy="201240"/>
          </a:xfrm>
          <a:prstGeom prst="line">
            <a:avLst/>
          </a:prstGeom>
          <a:ln w="19050">
            <a:solidFill>
              <a:srgbClr val="00F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394200" y="2372400"/>
            <a:ext cx="2577960" cy="1263960"/>
          </a:xfrm>
          <a:prstGeom prst="roundRect">
            <a:avLst>
              <a:gd name="adj" fmla="val 6977"/>
            </a:avLst>
          </a:prstGeom>
          <a:solidFill>
            <a:srgbClr val="0A1020"/>
          </a:solidFill>
          <a:ln w="228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4"/>
          <p:cNvSpPr/>
          <p:nvPr/>
        </p:nvSpPr>
        <p:spPr>
          <a:xfrm>
            <a:off x="384120" y="2597040"/>
            <a:ext cx="257796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457200" y="2415960"/>
            <a:ext cx="2577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Clerk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566640" y="2558160"/>
            <a:ext cx="239508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displayMenu()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managePatients()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manageRooms()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manageUsers()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generateBills()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viewLogs()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7"/>
          <p:cNvSpPr/>
          <p:nvPr/>
        </p:nvSpPr>
        <p:spPr>
          <a:xfrm>
            <a:off x="3291120" y="2383560"/>
            <a:ext cx="2577960" cy="1288800"/>
          </a:xfrm>
          <a:prstGeom prst="roundRect">
            <a:avLst>
              <a:gd name="adj" fmla="val 6977"/>
            </a:avLst>
          </a:prstGeom>
          <a:solidFill>
            <a:srgbClr val="0A1020"/>
          </a:solidFill>
          <a:ln w="228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8"/>
          <p:cNvSpPr/>
          <p:nvPr/>
        </p:nvSpPr>
        <p:spPr>
          <a:xfrm>
            <a:off x="3328560" y="2597040"/>
            <a:ext cx="257796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9"/>
          <p:cNvSpPr/>
          <p:nvPr/>
        </p:nvSpPr>
        <p:spPr>
          <a:xfrm>
            <a:off x="3328560" y="2393640"/>
            <a:ext cx="2577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Physician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3420000" y="2606400"/>
            <a:ext cx="239508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displayMenu()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prescribeMedicine()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manageRecords()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manageMedicines()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generateBills()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viewReports()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1"/>
          <p:cNvSpPr/>
          <p:nvPr/>
        </p:nvSpPr>
        <p:spPr>
          <a:xfrm>
            <a:off x="6235920" y="2396160"/>
            <a:ext cx="2577960" cy="1288800"/>
          </a:xfrm>
          <a:prstGeom prst="roundRect">
            <a:avLst>
              <a:gd name="adj" fmla="val 6977"/>
            </a:avLst>
          </a:prstGeom>
          <a:solidFill>
            <a:srgbClr val="0A1020"/>
          </a:solidFill>
          <a:ln w="228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2"/>
          <p:cNvSpPr/>
          <p:nvPr/>
        </p:nvSpPr>
        <p:spPr>
          <a:xfrm>
            <a:off x="6272640" y="2597040"/>
            <a:ext cx="257796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3"/>
          <p:cNvSpPr/>
          <p:nvPr/>
        </p:nvSpPr>
        <p:spPr>
          <a:xfrm>
            <a:off x="6235920" y="2445840"/>
            <a:ext cx="25779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Nurse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4"/>
          <p:cNvSpPr/>
          <p:nvPr/>
        </p:nvSpPr>
        <p:spPr>
          <a:xfrm>
            <a:off x="6327360" y="2635920"/>
            <a:ext cx="239508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displayMenu()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addProgressNote()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viewPrescriptions()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viewPatients()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changePassword()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+ viewProgress()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5"/>
          <p:cNvSpPr/>
          <p:nvPr/>
        </p:nvSpPr>
        <p:spPr>
          <a:xfrm>
            <a:off x="325800" y="3784680"/>
            <a:ext cx="1784160" cy="1107000"/>
          </a:xfrm>
          <a:prstGeom prst="roundRect">
            <a:avLst>
              <a:gd name="adj" fmla="val 6452"/>
            </a:avLst>
          </a:prstGeom>
          <a:solidFill>
            <a:srgbClr val="0F1A2E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6"/>
          <p:cNvSpPr/>
          <p:nvPr/>
        </p:nvSpPr>
        <p:spPr>
          <a:xfrm>
            <a:off x="384120" y="4134240"/>
            <a:ext cx="2084040" cy="36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7"/>
          <p:cNvSpPr/>
          <p:nvPr/>
        </p:nvSpPr>
        <p:spPr>
          <a:xfrm>
            <a:off x="201240" y="3832920"/>
            <a:ext cx="2084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Patient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8"/>
          <p:cNvSpPr/>
          <p:nvPr/>
        </p:nvSpPr>
        <p:spPr>
          <a:xfrm>
            <a:off x="544680" y="4177800"/>
            <a:ext cx="1382760" cy="360"/>
          </a:xfrm>
          <a:prstGeom prst="line">
            <a:avLst/>
          </a:prstGeom>
          <a:ln w="9525">
            <a:solidFill>
              <a:srgbClr val="00B4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9"/>
          <p:cNvSpPr/>
          <p:nvPr/>
        </p:nvSpPr>
        <p:spPr>
          <a:xfrm>
            <a:off x="292680" y="3682440"/>
            <a:ext cx="1901160" cy="16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id, name, age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gender, phone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room, 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0"/>
          <p:cNvSpPr/>
          <p:nvPr/>
        </p:nvSpPr>
        <p:spPr>
          <a:xfrm>
            <a:off x="2306520" y="3776760"/>
            <a:ext cx="1813680" cy="1114920"/>
          </a:xfrm>
          <a:prstGeom prst="roundRect">
            <a:avLst>
              <a:gd name="adj" fmla="val 6452"/>
            </a:avLst>
          </a:prstGeom>
          <a:solidFill>
            <a:srgbClr val="0F1A2E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1"/>
          <p:cNvSpPr/>
          <p:nvPr/>
        </p:nvSpPr>
        <p:spPr>
          <a:xfrm>
            <a:off x="2534400" y="4357080"/>
            <a:ext cx="2084040" cy="36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2"/>
          <p:cNvSpPr/>
          <p:nvPr/>
        </p:nvSpPr>
        <p:spPr>
          <a:xfrm>
            <a:off x="2219760" y="3812040"/>
            <a:ext cx="2084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PatientRecord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3"/>
          <p:cNvSpPr/>
          <p:nvPr/>
        </p:nvSpPr>
        <p:spPr>
          <a:xfrm>
            <a:off x="2534040" y="4169160"/>
            <a:ext cx="1386720" cy="360"/>
          </a:xfrm>
          <a:prstGeom prst="line">
            <a:avLst/>
          </a:prstGeom>
          <a:ln w="9525">
            <a:solidFill>
              <a:srgbClr val="00FF9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4"/>
          <p:cNvSpPr/>
          <p:nvPr/>
        </p:nvSpPr>
        <p:spPr>
          <a:xfrm>
            <a:off x="2348280" y="4021200"/>
            <a:ext cx="17110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diagnosis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medication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admission_date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5"/>
          <p:cNvSpPr/>
          <p:nvPr/>
        </p:nvSpPr>
        <p:spPr>
          <a:xfrm>
            <a:off x="4429080" y="3796200"/>
            <a:ext cx="1959120" cy="1131840"/>
          </a:xfrm>
          <a:prstGeom prst="roundRect">
            <a:avLst>
              <a:gd name="adj" fmla="val 6452"/>
            </a:avLst>
          </a:prstGeom>
          <a:solidFill>
            <a:srgbClr val="0F1A2E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6"/>
          <p:cNvSpPr/>
          <p:nvPr/>
        </p:nvSpPr>
        <p:spPr>
          <a:xfrm>
            <a:off x="4846320" y="4316040"/>
            <a:ext cx="2084040" cy="36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7"/>
          <p:cNvSpPr/>
          <p:nvPr/>
        </p:nvSpPr>
        <p:spPr>
          <a:xfrm>
            <a:off x="4304160" y="3832560"/>
            <a:ext cx="2084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Rooms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8"/>
          <p:cNvSpPr/>
          <p:nvPr/>
        </p:nvSpPr>
        <p:spPr>
          <a:xfrm>
            <a:off x="4659480" y="4177440"/>
            <a:ext cx="1404720" cy="360"/>
          </a:xfrm>
          <a:prstGeom prst="line">
            <a:avLst/>
          </a:prstGeom>
          <a:ln w="9525">
            <a:solidFill>
              <a:srgbClr val="9D4ED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9"/>
          <p:cNvSpPr/>
          <p:nvPr/>
        </p:nvSpPr>
        <p:spPr>
          <a:xfrm>
            <a:off x="4433040" y="4014360"/>
            <a:ext cx="1901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roomNumber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patient_name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0"/>
          <p:cNvSpPr/>
          <p:nvPr/>
        </p:nvSpPr>
        <p:spPr>
          <a:xfrm>
            <a:off x="6729840" y="3791160"/>
            <a:ext cx="2084040" cy="1114920"/>
          </a:xfrm>
          <a:prstGeom prst="roundRect">
            <a:avLst>
              <a:gd name="adj" fmla="val 6452"/>
            </a:avLst>
          </a:prstGeom>
          <a:solidFill>
            <a:srgbClr val="0F1A2E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1"/>
          <p:cNvSpPr/>
          <p:nvPr/>
        </p:nvSpPr>
        <p:spPr>
          <a:xfrm>
            <a:off x="7077600" y="4316040"/>
            <a:ext cx="2084040" cy="36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42"/>
          <p:cNvSpPr/>
          <p:nvPr/>
        </p:nvSpPr>
        <p:spPr>
          <a:xfrm>
            <a:off x="6712200" y="3868200"/>
            <a:ext cx="2084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DatabaseConnection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43"/>
          <p:cNvSpPr/>
          <p:nvPr/>
        </p:nvSpPr>
        <p:spPr>
          <a:xfrm>
            <a:off x="6876360" y="4183200"/>
            <a:ext cx="1719000" cy="360"/>
          </a:xfrm>
          <a:prstGeom prst="line">
            <a:avLst/>
          </a:prstGeom>
          <a:ln w="9525">
            <a:solidFill>
              <a:srgbClr val="FFB70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4"/>
          <p:cNvSpPr/>
          <p:nvPr/>
        </p:nvSpPr>
        <p:spPr>
          <a:xfrm>
            <a:off x="6858360" y="4096800"/>
            <a:ext cx="1901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getConnection()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«Singleton»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private static conn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274320" y="34956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FFB700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Database Design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FFB700"/>
                </a:solidFill>
                <a:effectLst/>
                <a:uFillTx/>
                <a:latin typeface="Calibri"/>
              </a:rPr>
              <a:t>10 relational tables — MySQL hospital_db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FFB700">
              <a:alpha val="7000"/>
            </a:srgbClr>
          </a:solidFill>
          <a:ln w="12700">
            <a:solidFill>
              <a:srgbClr val="FFB70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FF9F">
              <a:alpha val="10000"/>
            </a:srgbClr>
          </a:solidFill>
          <a:ln w="12700">
            <a:solidFill>
              <a:srgbClr val="00FF9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FFB700"/>
                </a:solidFill>
                <a:effectLst/>
                <a:uFillTx/>
                <a:latin typeface="Calibri"/>
              </a:rPr>
              <a:t>DATABASE DESIGN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10 Tables — hospital_db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"/>
          <p:cNvSpPr/>
          <p:nvPr/>
        </p:nvSpPr>
        <p:spPr>
          <a:xfrm>
            <a:off x="218880" y="1134000"/>
            <a:ext cx="1645200" cy="192888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"/>
          <p:cNvSpPr/>
          <p:nvPr/>
        </p:nvSpPr>
        <p:spPr>
          <a:xfrm>
            <a:off x="292680" y="1170360"/>
            <a:ext cx="164520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0" descr="preencoded.png"/>
          <p:cNvPicPr/>
          <p:nvPr/>
        </p:nvPicPr>
        <p:blipFill>
          <a:blip r:embed="rId1"/>
          <a:stretch/>
        </p:blipFill>
        <p:spPr>
          <a:xfrm>
            <a:off x="896040" y="13716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6"/>
          <p:cNvSpPr/>
          <p:nvPr/>
        </p:nvSpPr>
        <p:spPr>
          <a:xfrm>
            <a:off x="274680" y="178308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users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407520" y="2062800"/>
            <a:ext cx="1371600" cy="360"/>
          </a:xfrm>
          <a:prstGeom prst="line">
            <a:avLst/>
          </a:prstGeom>
          <a:ln w="9525">
            <a:solidFill>
              <a:srgbClr val="00B4FF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291960" y="21722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329040" y="2346480"/>
            <a:ext cx="15721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1 → many logs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2048400" y="1170360"/>
            <a:ext cx="1645200" cy="194688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2048400" y="117036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1" descr="preencoded.png"/>
          <p:cNvPicPr/>
          <p:nvPr/>
        </p:nvPicPr>
        <p:blipFill>
          <a:blip r:embed="rId2"/>
          <a:stretch/>
        </p:blipFill>
        <p:spPr>
          <a:xfrm>
            <a:off x="2651760" y="13716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12"/>
          <p:cNvSpPr/>
          <p:nvPr/>
        </p:nvSpPr>
        <p:spPr>
          <a:xfrm>
            <a:off x="2048040" y="175572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patients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3"/>
          <p:cNvSpPr/>
          <p:nvPr/>
        </p:nvSpPr>
        <p:spPr>
          <a:xfrm>
            <a:off x="2185200" y="2055240"/>
            <a:ext cx="1371600" cy="360"/>
          </a:xfrm>
          <a:prstGeom prst="line">
            <a:avLst/>
          </a:prstGeom>
          <a:ln w="9525">
            <a:solidFill>
              <a:srgbClr val="00FFD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4"/>
          <p:cNvSpPr/>
          <p:nvPr/>
        </p:nvSpPr>
        <p:spPr>
          <a:xfrm>
            <a:off x="2084760" y="21362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5"/>
          <p:cNvSpPr/>
          <p:nvPr/>
        </p:nvSpPr>
        <p:spPr>
          <a:xfrm>
            <a:off x="2011320" y="2111760"/>
            <a:ext cx="173844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Central (6 FKs)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6"/>
          <p:cNvSpPr/>
          <p:nvPr/>
        </p:nvSpPr>
        <p:spPr>
          <a:xfrm>
            <a:off x="3767040" y="1177920"/>
            <a:ext cx="1645200" cy="194688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7"/>
          <p:cNvSpPr/>
          <p:nvPr/>
        </p:nvSpPr>
        <p:spPr>
          <a:xfrm>
            <a:off x="3803760" y="1170360"/>
            <a:ext cx="164520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2" descr="preencoded.png"/>
          <p:cNvPicPr/>
          <p:nvPr/>
        </p:nvPicPr>
        <p:blipFill>
          <a:blip r:embed="rId3"/>
          <a:stretch/>
        </p:blipFill>
        <p:spPr>
          <a:xfrm>
            <a:off x="4392720" y="13125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18"/>
          <p:cNvSpPr/>
          <p:nvPr/>
        </p:nvSpPr>
        <p:spPr>
          <a:xfrm>
            <a:off x="3863520" y="178092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patient_records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9"/>
          <p:cNvSpPr/>
          <p:nvPr/>
        </p:nvSpPr>
        <p:spPr>
          <a:xfrm>
            <a:off x="3940920" y="2077200"/>
            <a:ext cx="1371600" cy="360"/>
          </a:xfrm>
          <a:prstGeom prst="line">
            <a:avLst/>
          </a:prstGeom>
          <a:ln w="9525">
            <a:solidFill>
              <a:srgbClr val="9D4EDD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0"/>
          <p:cNvSpPr/>
          <p:nvPr/>
        </p:nvSpPr>
        <p:spPr>
          <a:xfrm>
            <a:off x="3851280" y="21578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1"/>
          <p:cNvSpPr/>
          <p:nvPr/>
        </p:nvSpPr>
        <p:spPr>
          <a:xfrm>
            <a:off x="3851280" y="213624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FK → patients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2"/>
          <p:cNvSpPr/>
          <p:nvPr/>
        </p:nvSpPr>
        <p:spPr>
          <a:xfrm>
            <a:off x="5520240" y="1152360"/>
            <a:ext cx="1645200" cy="199368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3"/>
          <p:cNvSpPr/>
          <p:nvPr/>
        </p:nvSpPr>
        <p:spPr>
          <a:xfrm>
            <a:off x="5559480" y="1170360"/>
            <a:ext cx="16452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3" descr="preencoded.png"/>
          <p:cNvPicPr/>
          <p:nvPr/>
        </p:nvPicPr>
        <p:blipFill>
          <a:blip r:embed="rId4"/>
          <a:stretch/>
        </p:blipFill>
        <p:spPr>
          <a:xfrm>
            <a:off x="6163200" y="13716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24"/>
          <p:cNvSpPr/>
          <p:nvPr/>
        </p:nvSpPr>
        <p:spPr>
          <a:xfrm>
            <a:off x="5582520" y="175212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rooms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5"/>
          <p:cNvSpPr/>
          <p:nvPr/>
        </p:nvSpPr>
        <p:spPr>
          <a:xfrm>
            <a:off x="5666400" y="2055240"/>
            <a:ext cx="1371600" cy="360"/>
          </a:xfrm>
          <a:prstGeom prst="line">
            <a:avLst/>
          </a:prstGeom>
          <a:ln w="9525">
            <a:solidFill>
              <a:srgbClr val="FFB700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6"/>
          <p:cNvSpPr/>
          <p:nvPr/>
        </p:nvSpPr>
        <p:spPr>
          <a:xfrm>
            <a:off x="5582520" y="21722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room_number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7"/>
          <p:cNvSpPr/>
          <p:nvPr/>
        </p:nvSpPr>
        <p:spPr>
          <a:xfrm>
            <a:off x="5570280" y="219276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1:1 per patient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7300080" y="1143360"/>
            <a:ext cx="1645200" cy="200304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9"/>
          <p:cNvSpPr/>
          <p:nvPr/>
        </p:nvSpPr>
        <p:spPr>
          <a:xfrm>
            <a:off x="7315200" y="1170360"/>
            <a:ext cx="16452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 4" descr="preencoded.png"/>
          <p:cNvPicPr/>
          <p:nvPr/>
        </p:nvPicPr>
        <p:blipFill>
          <a:blip r:embed="rId5"/>
          <a:stretch/>
        </p:blipFill>
        <p:spPr>
          <a:xfrm>
            <a:off x="7918560" y="13125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30"/>
          <p:cNvSpPr/>
          <p:nvPr/>
        </p:nvSpPr>
        <p:spPr>
          <a:xfrm>
            <a:off x="7351560" y="180216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medicines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31"/>
          <p:cNvSpPr/>
          <p:nvPr/>
        </p:nvSpPr>
        <p:spPr>
          <a:xfrm>
            <a:off x="7452360" y="2091960"/>
            <a:ext cx="1371600" cy="360"/>
          </a:xfrm>
          <a:prstGeom prst="line">
            <a:avLst/>
          </a:prstGeom>
          <a:ln w="9525">
            <a:solidFill>
              <a:srgbClr val="FF2D7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2"/>
          <p:cNvSpPr/>
          <p:nvPr/>
        </p:nvSpPr>
        <p:spPr>
          <a:xfrm>
            <a:off x="7345800" y="21650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3"/>
          <p:cNvSpPr/>
          <p:nvPr/>
        </p:nvSpPr>
        <p:spPr>
          <a:xfrm>
            <a:off x="7388280" y="212400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1 → many scripts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4"/>
          <p:cNvSpPr/>
          <p:nvPr/>
        </p:nvSpPr>
        <p:spPr>
          <a:xfrm>
            <a:off x="208080" y="3237120"/>
            <a:ext cx="1645200" cy="174132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5"/>
          <p:cNvSpPr/>
          <p:nvPr/>
        </p:nvSpPr>
        <p:spPr>
          <a:xfrm>
            <a:off x="292680" y="3822120"/>
            <a:ext cx="16452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5" descr="preencoded.png"/>
          <p:cNvPicPr/>
          <p:nvPr/>
        </p:nvPicPr>
        <p:blipFill>
          <a:blip r:embed="rId6"/>
          <a:stretch/>
        </p:blipFill>
        <p:spPr>
          <a:xfrm>
            <a:off x="822600" y="34290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36"/>
          <p:cNvSpPr/>
          <p:nvPr/>
        </p:nvSpPr>
        <p:spPr>
          <a:xfrm>
            <a:off x="291960" y="392940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patient_medicines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7"/>
          <p:cNvSpPr/>
          <p:nvPr/>
        </p:nvSpPr>
        <p:spPr>
          <a:xfrm>
            <a:off x="355680" y="4298400"/>
            <a:ext cx="1371600" cy="360"/>
          </a:xfrm>
          <a:prstGeom prst="line">
            <a:avLst/>
          </a:prstGeom>
          <a:ln w="9525">
            <a:solidFill>
              <a:srgbClr val="00FF9F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8"/>
          <p:cNvSpPr/>
          <p:nvPr/>
        </p:nvSpPr>
        <p:spPr>
          <a:xfrm>
            <a:off x="273600" y="430668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9"/>
          <p:cNvSpPr/>
          <p:nvPr/>
        </p:nvSpPr>
        <p:spPr>
          <a:xfrm>
            <a:off x="255600" y="418824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Junction table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40"/>
          <p:cNvSpPr/>
          <p:nvPr/>
        </p:nvSpPr>
        <p:spPr>
          <a:xfrm>
            <a:off x="2032920" y="3268080"/>
            <a:ext cx="1645200" cy="172404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1"/>
          <p:cNvSpPr/>
          <p:nvPr/>
        </p:nvSpPr>
        <p:spPr>
          <a:xfrm>
            <a:off x="2048400" y="3822120"/>
            <a:ext cx="16452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6" descr="preencoded.png"/>
          <p:cNvPicPr/>
          <p:nvPr/>
        </p:nvPicPr>
        <p:blipFill>
          <a:blip r:embed="rId7"/>
          <a:stretch/>
        </p:blipFill>
        <p:spPr>
          <a:xfrm>
            <a:off x="2636640" y="35103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 42"/>
          <p:cNvSpPr/>
          <p:nvPr/>
        </p:nvSpPr>
        <p:spPr>
          <a:xfrm>
            <a:off x="2063160" y="397836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bills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3"/>
          <p:cNvSpPr/>
          <p:nvPr/>
        </p:nvSpPr>
        <p:spPr>
          <a:xfrm>
            <a:off x="2185200" y="4312080"/>
            <a:ext cx="1371600" cy="360"/>
          </a:xfrm>
          <a:prstGeom prst="line">
            <a:avLst/>
          </a:prstGeom>
          <a:ln w="9525">
            <a:solidFill>
              <a:srgbClr val="FFB700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4"/>
          <p:cNvSpPr/>
          <p:nvPr/>
        </p:nvSpPr>
        <p:spPr>
          <a:xfrm>
            <a:off x="2063160" y="438048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5"/>
          <p:cNvSpPr/>
          <p:nvPr/>
        </p:nvSpPr>
        <p:spPr>
          <a:xfrm>
            <a:off x="2093040" y="424656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FK → patients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6"/>
          <p:cNvSpPr/>
          <p:nvPr/>
        </p:nvSpPr>
        <p:spPr>
          <a:xfrm>
            <a:off x="3767040" y="3258000"/>
            <a:ext cx="1645200" cy="172044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7"/>
          <p:cNvSpPr/>
          <p:nvPr/>
        </p:nvSpPr>
        <p:spPr>
          <a:xfrm>
            <a:off x="3803760" y="3822120"/>
            <a:ext cx="164520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 7" descr="preencoded.png"/>
          <p:cNvPicPr/>
          <p:nvPr/>
        </p:nvPicPr>
        <p:blipFill>
          <a:blip r:embed="rId8"/>
          <a:stretch/>
        </p:blipFill>
        <p:spPr>
          <a:xfrm>
            <a:off x="4407480" y="35319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48"/>
          <p:cNvSpPr/>
          <p:nvPr/>
        </p:nvSpPr>
        <p:spPr>
          <a:xfrm>
            <a:off x="3847320" y="392940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activity_logs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9"/>
          <p:cNvSpPr/>
          <p:nvPr/>
        </p:nvSpPr>
        <p:spPr>
          <a:xfrm>
            <a:off x="3891240" y="4336920"/>
            <a:ext cx="1371600" cy="360"/>
          </a:xfrm>
          <a:prstGeom prst="line">
            <a:avLst/>
          </a:prstGeom>
          <a:ln w="9525">
            <a:solidFill>
              <a:srgbClr val="00B4FF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0"/>
          <p:cNvSpPr/>
          <p:nvPr/>
        </p:nvSpPr>
        <p:spPr>
          <a:xfrm>
            <a:off x="3812040" y="441504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51"/>
          <p:cNvSpPr/>
          <p:nvPr/>
        </p:nvSpPr>
        <p:spPr>
          <a:xfrm>
            <a:off x="3858120" y="428868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FK → users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2"/>
          <p:cNvSpPr/>
          <p:nvPr/>
        </p:nvSpPr>
        <p:spPr>
          <a:xfrm>
            <a:off x="5574240" y="3274560"/>
            <a:ext cx="1645200" cy="171756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53"/>
          <p:cNvSpPr/>
          <p:nvPr/>
        </p:nvSpPr>
        <p:spPr>
          <a:xfrm>
            <a:off x="5559480" y="3822120"/>
            <a:ext cx="16452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4" name="Image 8" descr="preencoded.png"/>
          <p:cNvPicPr/>
          <p:nvPr/>
        </p:nvPicPr>
        <p:blipFill>
          <a:blip r:embed="rId9"/>
          <a:stretch/>
        </p:blipFill>
        <p:spPr>
          <a:xfrm>
            <a:off x="6123600" y="3585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 54"/>
          <p:cNvSpPr/>
          <p:nvPr/>
        </p:nvSpPr>
        <p:spPr>
          <a:xfrm>
            <a:off x="5523120" y="399132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password_history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5"/>
          <p:cNvSpPr/>
          <p:nvPr/>
        </p:nvSpPr>
        <p:spPr>
          <a:xfrm>
            <a:off x="5657040" y="4380120"/>
            <a:ext cx="1371600" cy="360"/>
          </a:xfrm>
          <a:prstGeom prst="line">
            <a:avLst/>
          </a:prstGeom>
          <a:ln w="9525">
            <a:solidFill>
              <a:srgbClr val="FF2D7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6"/>
          <p:cNvSpPr/>
          <p:nvPr/>
        </p:nvSpPr>
        <p:spPr>
          <a:xfrm>
            <a:off x="5546160" y="442332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7"/>
          <p:cNvSpPr/>
          <p:nvPr/>
        </p:nvSpPr>
        <p:spPr>
          <a:xfrm>
            <a:off x="5546160" y="428688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Last 3 per user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8"/>
          <p:cNvSpPr/>
          <p:nvPr/>
        </p:nvSpPr>
        <p:spPr>
          <a:xfrm>
            <a:off x="7329960" y="3258000"/>
            <a:ext cx="1645200" cy="1771200"/>
          </a:xfrm>
          <a:prstGeom prst="roundRect">
            <a:avLst>
              <a:gd name="adj" fmla="val 6667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9"/>
          <p:cNvSpPr/>
          <p:nvPr/>
        </p:nvSpPr>
        <p:spPr>
          <a:xfrm>
            <a:off x="7315200" y="3822120"/>
            <a:ext cx="16452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1" name="Image 9" descr="preencoded.png"/>
          <p:cNvPicPr/>
          <p:nvPr/>
        </p:nvPicPr>
        <p:blipFill>
          <a:blip r:embed="rId10"/>
          <a:stretch/>
        </p:blipFill>
        <p:spPr>
          <a:xfrm>
            <a:off x="7903440" y="36028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60"/>
          <p:cNvSpPr/>
          <p:nvPr/>
        </p:nvSpPr>
        <p:spPr>
          <a:xfrm>
            <a:off x="7333560" y="4069080"/>
            <a:ext cx="1572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patient_progress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61"/>
          <p:cNvSpPr/>
          <p:nvPr/>
        </p:nvSpPr>
        <p:spPr>
          <a:xfrm>
            <a:off x="7433640" y="4379760"/>
            <a:ext cx="1371600" cy="360"/>
          </a:xfrm>
          <a:prstGeom prst="line">
            <a:avLst/>
          </a:prstGeom>
          <a:ln w="9525">
            <a:solidFill>
              <a:srgbClr val="00FF9F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2"/>
          <p:cNvSpPr/>
          <p:nvPr/>
        </p:nvSpPr>
        <p:spPr>
          <a:xfrm>
            <a:off x="7388280" y="442440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PK: 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63"/>
          <p:cNvSpPr/>
          <p:nvPr/>
        </p:nvSpPr>
        <p:spPr>
          <a:xfrm>
            <a:off x="7434000" y="4298400"/>
            <a:ext cx="157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FK → patients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274320" y="34956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00FF9F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Roles &amp; Features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00FF9F"/>
                </a:solidFill>
                <a:effectLst/>
                <a:uFillTx/>
                <a:latin typeface="Calibri"/>
              </a:rPr>
              <a:t>3 role-based dashboards — Clerk · Physician · Nurse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00FF9F">
              <a:alpha val="7000"/>
            </a:srgbClr>
          </a:solidFill>
          <a:ln w="12700">
            <a:solidFill>
              <a:srgbClr val="00FF9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FFD4">
              <a:alpha val="10000"/>
            </a:srgbClr>
          </a:solidFill>
          <a:ln w="12700">
            <a:solidFill>
              <a:srgbClr val="00FFD4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9F"/>
                </a:solidFill>
                <a:effectLst/>
                <a:uFillTx/>
                <a:latin typeface="Calibri"/>
              </a:rPr>
              <a:t>ROLES &amp; FEATURES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 Role-Based Dashboards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4"/>
          <p:cNvSpPr/>
          <p:nvPr/>
        </p:nvSpPr>
        <p:spPr>
          <a:xfrm>
            <a:off x="384120" y="1134000"/>
            <a:ext cx="2724120" cy="392004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5"/>
          <p:cNvSpPr/>
          <p:nvPr/>
        </p:nvSpPr>
        <p:spPr>
          <a:xfrm>
            <a:off x="384120" y="1143000"/>
            <a:ext cx="272412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0" descr="preencoded.png"/>
          <p:cNvPicPr/>
          <p:nvPr/>
        </p:nvPicPr>
        <p:blipFill>
          <a:blip r:embed="rId1"/>
          <a:stretch/>
        </p:blipFill>
        <p:spPr>
          <a:xfrm>
            <a:off x="1499760" y="12618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6"/>
          <p:cNvSpPr/>
          <p:nvPr/>
        </p:nvSpPr>
        <p:spPr>
          <a:xfrm>
            <a:off x="384120" y="1828800"/>
            <a:ext cx="272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CLERK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7"/>
          <p:cNvSpPr/>
          <p:nvPr/>
        </p:nvSpPr>
        <p:spPr>
          <a:xfrm>
            <a:off x="658080" y="2230920"/>
            <a:ext cx="2176560" cy="360"/>
          </a:xfrm>
          <a:prstGeom prst="line">
            <a:avLst/>
          </a:prstGeom>
          <a:ln w="12700">
            <a:solidFill>
              <a:srgbClr val="00FF9F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1" descr="preencoded.png"/>
          <p:cNvPicPr/>
          <p:nvPr/>
        </p:nvPicPr>
        <p:blipFill>
          <a:blip r:embed="rId2"/>
          <a:stretch/>
        </p:blipFill>
        <p:spPr>
          <a:xfrm>
            <a:off x="658080" y="2383560"/>
            <a:ext cx="204120" cy="2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8"/>
          <p:cNvSpPr/>
          <p:nvPr/>
        </p:nvSpPr>
        <p:spPr>
          <a:xfrm>
            <a:off x="932760" y="226368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Patient CRUD — Add, Edit, Delete, 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Image 2" descr="preencoded.png"/>
          <p:cNvPicPr/>
          <p:nvPr/>
        </p:nvPicPr>
        <p:blipFill>
          <a:blip r:embed="rId3"/>
          <a:stretch/>
        </p:blipFill>
        <p:spPr>
          <a:xfrm>
            <a:off x="606960" y="28465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9"/>
          <p:cNvSpPr/>
          <p:nvPr/>
        </p:nvSpPr>
        <p:spPr>
          <a:xfrm>
            <a:off x="932760" y="272268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Admit &amp; Discharge with Room Assignment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7" name="Image 3" descr="preencoded.png"/>
          <p:cNvPicPr/>
          <p:nvPr/>
        </p:nvPicPr>
        <p:blipFill>
          <a:blip r:embed="rId4"/>
          <a:stretch/>
        </p:blipFill>
        <p:spPr>
          <a:xfrm>
            <a:off x="606960" y="33170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 10"/>
          <p:cNvSpPr/>
          <p:nvPr/>
        </p:nvSpPr>
        <p:spPr>
          <a:xfrm>
            <a:off x="932760" y="315504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User Management — Lock / Unlock Accounts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9" name="Image 4" descr="preencoded.png"/>
          <p:cNvPicPr/>
          <p:nvPr/>
        </p:nvPicPr>
        <p:blipFill>
          <a:blip r:embed="rId5"/>
          <a:stretch/>
        </p:blipFill>
        <p:spPr>
          <a:xfrm>
            <a:off x="585360" y="37396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 11"/>
          <p:cNvSpPr/>
          <p:nvPr/>
        </p:nvSpPr>
        <p:spPr>
          <a:xfrm>
            <a:off x="932760" y="35809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Billing — Generate, PDF Export, Paid/Unpaid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Image 5" descr="preencoded.png"/>
          <p:cNvPicPr/>
          <p:nvPr/>
        </p:nvPicPr>
        <p:blipFill>
          <a:blip r:embed="rId6"/>
          <a:stretch/>
        </p:blipFill>
        <p:spPr>
          <a:xfrm>
            <a:off x="610200" y="41623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2" name="Text 12"/>
          <p:cNvSpPr/>
          <p:nvPr/>
        </p:nvSpPr>
        <p:spPr>
          <a:xfrm>
            <a:off x="978840" y="402804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Reports — PDF &amp; CSV for all 4 modules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Image 6" descr="preencoded.png"/>
          <p:cNvPicPr/>
          <p:nvPr/>
        </p:nvPicPr>
        <p:blipFill>
          <a:blip r:embed="rId7"/>
          <a:stretch/>
        </p:blipFill>
        <p:spPr>
          <a:xfrm>
            <a:off x="640080" y="46504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 13"/>
          <p:cNvSpPr/>
          <p:nvPr/>
        </p:nvSpPr>
        <p:spPr>
          <a:xfrm>
            <a:off x="987480" y="454284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Activity Logs — View &amp; Clear audit trail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4"/>
          <p:cNvSpPr/>
          <p:nvPr/>
        </p:nvSpPr>
        <p:spPr>
          <a:xfrm>
            <a:off x="3328560" y="1126440"/>
            <a:ext cx="2724120" cy="393912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5"/>
          <p:cNvSpPr/>
          <p:nvPr/>
        </p:nvSpPr>
        <p:spPr>
          <a:xfrm>
            <a:off x="3310200" y="1143000"/>
            <a:ext cx="272412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7" descr="preencoded.png"/>
          <p:cNvPicPr/>
          <p:nvPr/>
        </p:nvPicPr>
        <p:blipFill>
          <a:blip r:embed="rId8"/>
          <a:stretch/>
        </p:blipFill>
        <p:spPr>
          <a:xfrm>
            <a:off x="4425840" y="12618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16"/>
          <p:cNvSpPr/>
          <p:nvPr/>
        </p:nvSpPr>
        <p:spPr>
          <a:xfrm>
            <a:off x="3310200" y="1828800"/>
            <a:ext cx="272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PHYSICIAN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7"/>
          <p:cNvSpPr/>
          <p:nvPr/>
        </p:nvSpPr>
        <p:spPr>
          <a:xfrm>
            <a:off x="3584160" y="2230920"/>
            <a:ext cx="2176560" cy="360"/>
          </a:xfrm>
          <a:prstGeom prst="line">
            <a:avLst/>
          </a:prstGeom>
          <a:ln w="12700">
            <a:solidFill>
              <a:srgbClr val="FFB700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Image 8" descr="preencoded.png"/>
          <p:cNvPicPr/>
          <p:nvPr/>
        </p:nvPicPr>
        <p:blipFill>
          <a:blip r:embed="rId9"/>
          <a:stretch/>
        </p:blipFill>
        <p:spPr>
          <a:xfrm>
            <a:off x="3571200" y="2332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18"/>
          <p:cNvSpPr/>
          <p:nvPr/>
        </p:nvSpPr>
        <p:spPr>
          <a:xfrm>
            <a:off x="3858840" y="21913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&amp; Search all patients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9" descr="preencoded.png"/>
          <p:cNvPicPr/>
          <p:nvPr/>
        </p:nvPicPr>
        <p:blipFill>
          <a:blip r:embed="rId10"/>
          <a:stretch/>
        </p:blipFill>
        <p:spPr>
          <a:xfrm>
            <a:off x="3593520" y="28033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19"/>
          <p:cNvSpPr/>
          <p:nvPr/>
        </p:nvSpPr>
        <p:spPr>
          <a:xfrm>
            <a:off x="3890880" y="26575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Medical Records — Diagnosis &amp; Medication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4" name="Image 10" descr="preencoded.png"/>
          <p:cNvPicPr/>
          <p:nvPr/>
        </p:nvPicPr>
        <p:blipFill>
          <a:blip r:embed="rId11"/>
          <a:stretch/>
        </p:blipFill>
        <p:spPr>
          <a:xfrm>
            <a:off x="3614040" y="3266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Text 20"/>
          <p:cNvSpPr/>
          <p:nvPr/>
        </p:nvSpPr>
        <p:spPr>
          <a:xfrm>
            <a:off x="3913560" y="313920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Medicine Dispensary — Add, Edit, Delete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6" name="Image 11" descr="preencoded.png"/>
          <p:cNvPicPr/>
          <p:nvPr/>
        </p:nvPicPr>
        <p:blipFill>
          <a:blip r:embed="rId12"/>
          <a:stretch/>
        </p:blipFill>
        <p:spPr>
          <a:xfrm>
            <a:off x="3635280" y="37450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21"/>
          <p:cNvSpPr/>
          <p:nvPr/>
        </p:nvSpPr>
        <p:spPr>
          <a:xfrm>
            <a:off x="3935880" y="361008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Prescribe Medicine + Dosage to patients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12" descr="preencoded.png"/>
          <p:cNvPicPr/>
          <p:nvPr/>
        </p:nvPicPr>
        <p:blipFill>
          <a:blip r:embed="rId13"/>
          <a:stretch/>
        </p:blipFill>
        <p:spPr>
          <a:xfrm>
            <a:off x="3635280" y="42433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Text 22"/>
          <p:cNvSpPr/>
          <p:nvPr/>
        </p:nvSpPr>
        <p:spPr>
          <a:xfrm>
            <a:off x="3922920" y="408708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Generate &amp; Export Bills as PDF invoice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0" name="Image 13" descr="preencoded.png"/>
          <p:cNvPicPr/>
          <p:nvPr/>
        </p:nvPicPr>
        <p:blipFill>
          <a:blip r:embed="rId14"/>
          <a:stretch/>
        </p:blipFill>
        <p:spPr>
          <a:xfrm>
            <a:off x="3642840" y="46900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Text 23"/>
          <p:cNvSpPr/>
          <p:nvPr/>
        </p:nvSpPr>
        <p:spPr>
          <a:xfrm>
            <a:off x="3935880" y="4598280"/>
            <a:ext cx="204768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PDF/CSV Reports + Activity Logs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4"/>
          <p:cNvSpPr/>
          <p:nvPr/>
        </p:nvSpPr>
        <p:spPr>
          <a:xfrm>
            <a:off x="6201720" y="1126440"/>
            <a:ext cx="2724120" cy="393912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5"/>
          <p:cNvSpPr/>
          <p:nvPr/>
        </p:nvSpPr>
        <p:spPr>
          <a:xfrm>
            <a:off x="6236280" y="1143000"/>
            <a:ext cx="272412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14" descr="preencoded.png"/>
          <p:cNvPicPr/>
          <p:nvPr/>
        </p:nvPicPr>
        <p:blipFill>
          <a:blip r:embed="rId15"/>
          <a:stretch/>
        </p:blipFill>
        <p:spPr>
          <a:xfrm>
            <a:off x="7351920" y="126180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26"/>
          <p:cNvSpPr/>
          <p:nvPr/>
        </p:nvSpPr>
        <p:spPr>
          <a:xfrm>
            <a:off x="6236280" y="1828800"/>
            <a:ext cx="2724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NURSE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7"/>
          <p:cNvSpPr/>
          <p:nvPr/>
        </p:nvSpPr>
        <p:spPr>
          <a:xfrm>
            <a:off x="6510240" y="2230920"/>
            <a:ext cx="2176560" cy="360"/>
          </a:xfrm>
          <a:prstGeom prst="line">
            <a:avLst/>
          </a:prstGeom>
          <a:ln w="12700">
            <a:solidFill>
              <a:srgbClr val="FF2D7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7" name="Image 15" descr="preencoded.png"/>
          <p:cNvPicPr/>
          <p:nvPr/>
        </p:nvPicPr>
        <p:blipFill>
          <a:blip r:embed="rId16"/>
          <a:stretch/>
        </p:blipFill>
        <p:spPr>
          <a:xfrm>
            <a:off x="6510240" y="23324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 28"/>
          <p:cNvSpPr/>
          <p:nvPr/>
        </p:nvSpPr>
        <p:spPr>
          <a:xfrm>
            <a:off x="6784920" y="22147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&amp; Search all registered patients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16" descr="preencoded.png"/>
          <p:cNvPicPr/>
          <p:nvPr/>
        </p:nvPicPr>
        <p:blipFill>
          <a:blip r:embed="rId17"/>
          <a:stretch/>
        </p:blipFill>
        <p:spPr>
          <a:xfrm>
            <a:off x="6537960" y="27349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9"/>
          <p:cNvSpPr/>
          <p:nvPr/>
        </p:nvSpPr>
        <p:spPr>
          <a:xfrm>
            <a:off x="6799680" y="262080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Add Daily Progress Notes with date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17" descr="preencoded.png"/>
          <p:cNvPicPr/>
          <p:nvPr/>
        </p:nvPicPr>
        <p:blipFill>
          <a:blip r:embed="rId18"/>
          <a:stretch/>
        </p:blipFill>
        <p:spPr>
          <a:xfrm>
            <a:off x="6565320" y="32162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30"/>
          <p:cNvSpPr/>
          <p:nvPr/>
        </p:nvSpPr>
        <p:spPr>
          <a:xfrm>
            <a:off x="6820920" y="303516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complete Progress History per patient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18" descr="preencoded.png"/>
          <p:cNvPicPr/>
          <p:nvPr/>
        </p:nvPicPr>
        <p:blipFill>
          <a:blip r:embed="rId19"/>
          <a:stretch/>
        </p:blipFill>
        <p:spPr>
          <a:xfrm>
            <a:off x="6575760" y="36576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31"/>
          <p:cNvSpPr/>
          <p:nvPr/>
        </p:nvSpPr>
        <p:spPr>
          <a:xfrm>
            <a:off x="6839640" y="35215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all patient Prescriptions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5" name="Image 19" descr="preencoded.png"/>
          <p:cNvPicPr/>
          <p:nvPr/>
        </p:nvPicPr>
        <p:blipFill>
          <a:blip r:embed="rId20"/>
          <a:stretch/>
        </p:blipFill>
        <p:spPr>
          <a:xfrm>
            <a:off x="6562800" y="41086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Text 32"/>
          <p:cNvSpPr/>
          <p:nvPr/>
        </p:nvSpPr>
        <p:spPr>
          <a:xfrm>
            <a:off x="6839640" y="391932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Secure Password Change with validation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20" descr="preencoded.png"/>
          <p:cNvPicPr/>
          <p:nvPr/>
        </p:nvPicPr>
        <p:blipFill>
          <a:blip r:embed="rId21"/>
          <a:stretch/>
        </p:blipFill>
        <p:spPr>
          <a:xfrm>
            <a:off x="6637680" y="46072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33"/>
          <p:cNvSpPr/>
          <p:nvPr/>
        </p:nvSpPr>
        <p:spPr>
          <a:xfrm>
            <a:off x="6885360" y="4467600"/>
            <a:ext cx="20476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Patient Portal — full patient details view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457200" y="47592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9D4EDD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07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Security Framework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00FF9F"/>
                </a:solidFill>
                <a:effectLst/>
                <a:uFillTx/>
                <a:latin typeface="Calibri"/>
              </a:rPr>
              <a:t>2FA . Lock Account . SessionTimeout . Audit Log . Password Strength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9D4EDD">
              <a:alpha val="7000"/>
            </a:srgbClr>
          </a:solidFill>
          <a:ln w="12700">
            <a:solidFill>
              <a:srgbClr val="9D4EDD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B4FF">
              <a:alpha val="10000"/>
            </a:srgbClr>
          </a:solidFill>
          <a:ln w="12700">
            <a:solidFill>
              <a:srgbClr val="00B4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"/>
          <p:cNvSpPr/>
          <p:nvPr/>
        </p:nvSpPr>
        <p:spPr>
          <a:xfrm>
            <a:off x="457200" y="31104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Enterprise Security Framework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4"/>
          <p:cNvSpPr/>
          <p:nvPr/>
        </p:nvSpPr>
        <p:spPr>
          <a:xfrm>
            <a:off x="384480" y="956520"/>
            <a:ext cx="2669400" cy="196812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5"/>
          <p:cNvSpPr/>
          <p:nvPr/>
        </p:nvSpPr>
        <p:spPr>
          <a:xfrm>
            <a:off x="934200" y="1818000"/>
            <a:ext cx="266940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3" name="Image 0" descr="preencoded.png"/>
          <p:cNvPicPr/>
          <p:nvPr/>
        </p:nvPicPr>
        <p:blipFill>
          <a:blip r:embed="rId1"/>
          <a:stretch/>
        </p:blipFill>
        <p:spPr>
          <a:xfrm>
            <a:off x="1380960" y="11127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6"/>
          <p:cNvSpPr/>
          <p:nvPr/>
        </p:nvSpPr>
        <p:spPr>
          <a:xfrm>
            <a:off x="343800" y="160488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Email 2FA (OTP)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619560" y="1998720"/>
            <a:ext cx="2212920" cy="360"/>
          </a:xfrm>
          <a:prstGeom prst="line">
            <a:avLst/>
          </a:prstGeom>
          <a:ln w="9525">
            <a:solidFill>
              <a:srgbClr val="00B4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8"/>
          <p:cNvSpPr/>
          <p:nvPr/>
        </p:nvSpPr>
        <p:spPr>
          <a:xfrm>
            <a:off x="501120" y="1888200"/>
            <a:ext cx="24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6-digit OTP via Gmail SMTP after password login. 5-minute expiry enforced server-side via EmailOTPService.java.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9"/>
          <p:cNvSpPr/>
          <p:nvPr/>
        </p:nvSpPr>
        <p:spPr>
          <a:xfrm>
            <a:off x="3181320" y="971640"/>
            <a:ext cx="2669400" cy="197496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3218760" y="1170360"/>
            <a:ext cx="26694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1" descr="preencoded.png"/>
          <p:cNvPicPr/>
          <p:nvPr/>
        </p:nvPicPr>
        <p:blipFill>
          <a:blip r:embed="rId2"/>
          <a:stretch/>
        </p:blipFill>
        <p:spPr>
          <a:xfrm>
            <a:off x="4352760" y="11613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11"/>
          <p:cNvSpPr/>
          <p:nvPr/>
        </p:nvSpPr>
        <p:spPr>
          <a:xfrm>
            <a:off x="3181320" y="161820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Account Lock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2"/>
          <p:cNvSpPr/>
          <p:nvPr/>
        </p:nvSpPr>
        <p:spPr>
          <a:xfrm>
            <a:off x="3447000" y="1999080"/>
            <a:ext cx="2212920" cy="360"/>
          </a:xfrm>
          <a:prstGeom prst="line">
            <a:avLst/>
          </a:prstGeom>
          <a:ln w="9525">
            <a:solidFill>
              <a:srgbClr val="FF2D7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3"/>
          <p:cNvSpPr/>
          <p:nvPr/>
        </p:nvSpPr>
        <p:spPr>
          <a:xfrm>
            <a:off x="3396960" y="1837440"/>
            <a:ext cx="2413440" cy="10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Auto-locks after 3 consecutive failed login attempts. Only Clerk role can unlock any account via User Management.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6144840" y="969120"/>
            <a:ext cx="2669400" cy="195588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5"/>
          <p:cNvSpPr/>
          <p:nvPr/>
        </p:nvSpPr>
        <p:spPr>
          <a:xfrm>
            <a:off x="6089760" y="1170360"/>
            <a:ext cx="26694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5" name="Image 2" descr="preencoded.png"/>
          <p:cNvPicPr/>
          <p:nvPr/>
        </p:nvPicPr>
        <p:blipFill>
          <a:blip r:embed="rId3"/>
          <a:stretch/>
        </p:blipFill>
        <p:spPr>
          <a:xfrm>
            <a:off x="7185960" y="11336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Text 16"/>
          <p:cNvSpPr/>
          <p:nvPr/>
        </p:nvSpPr>
        <p:spPr>
          <a:xfrm>
            <a:off x="6089760" y="164520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Session Timeout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7"/>
          <p:cNvSpPr/>
          <p:nvPr/>
        </p:nvSpPr>
        <p:spPr>
          <a:xfrm>
            <a:off x="6327360" y="2028600"/>
            <a:ext cx="2212920" cy="360"/>
          </a:xfrm>
          <a:prstGeom prst="line">
            <a:avLst/>
          </a:prstGeom>
          <a:ln w="9525">
            <a:solidFill>
              <a:srgbClr val="FFB70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8"/>
          <p:cNvSpPr/>
          <p:nvPr/>
        </p:nvSpPr>
        <p:spPr>
          <a:xfrm>
            <a:off x="6217920" y="1873440"/>
            <a:ext cx="24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JavaFX Timeline auto-logs out after 15 minutes of inactivity. Warning dialog shown at 13 min via SessionManager.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9"/>
          <p:cNvSpPr/>
          <p:nvPr/>
        </p:nvSpPr>
        <p:spPr>
          <a:xfrm>
            <a:off x="356760" y="3079080"/>
            <a:ext cx="2669400" cy="187740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0"/>
          <p:cNvSpPr/>
          <p:nvPr/>
        </p:nvSpPr>
        <p:spPr>
          <a:xfrm>
            <a:off x="347400" y="3657600"/>
            <a:ext cx="266940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1" name="Image 3" descr="preencoded.png"/>
          <p:cNvPicPr/>
          <p:nvPr/>
        </p:nvPicPr>
        <p:blipFill>
          <a:blip r:embed="rId4"/>
          <a:stretch/>
        </p:blipFill>
        <p:spPr>
          <a:xfrm>
            <a:off x="1488960" y="333252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2" name="Text 21"/>
          <p:cNvSpPr/>
          <p:nvPr/>
        </p:nvSpPr>
        <p:spPr>
          <a:xfrm>
            <a:off x="393120" y="387180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Password Strength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2"/>
          <p:cNvSpPr/>
          <p:nvPr/>
        </p:nvSpPr>
        <p:spPr>
          <a:xfrm>
            <a:off x="666720" y="4244400"/>
            <a:ext cx="2212920" cy="360"/>
          </a:xfrm>
          <a:prstGeom prst="line">
            <a:avLst/>
          </a:prstGeom>
          <a:ln w="9525">
            <a:solidFill>
              <a:srgbClr val="9D4ED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3"/>
          <p:cNvSpPr/>
          <p:nvPr/>
        </p:nvSpPr>
        <p:spPr>
          <a:xfrm>
            <a:off x="572400" y="4035960"/>
            <a:ext cx="24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Min 8 chars + uppercase + number + special character required. Enforced on every password change in SecurityManager.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4"/>
          <p:cNvSpPr/>
          <p:nvPr/>
        </p:nvSpPr>
        <p:spPr>
          <a:xfrm>
            <a:off x="3200400" y="3094920"/>
            <a:ext cx="2669400" cy="188388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25"/>
          <p:cNvSpPr/>
          <p:nvPr/>
        </p:nvSpPr>
        <p:spPr>
          <a:xfrm>
            <a:off x="3218760" y="3657600"/>
            <a:ext cx="26694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7" name="Image 4" descr="preencoded.png"/>
          <p:cNvPicPr/>
          <p:nvPr/>
        </p:nvPicPr>
        <p:blipFill>
          <a:blip r:embed="rId5"/>
          <a:stretch/>
        </p:blipFill>
        <p:spPr>
          <a:xfrm>
            <a:off x="4320720" y="33501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Text 26"/>
          <p:cNvSpPr/>
          <p:nvPr/>
        </p:nvSpPr>
        <p:spPr>
          <a:xfrm>
            <a:off x="3163680" y="386172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Audit Trail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7"/>
          <p:cNvSpPr/>
          <p:nvPr/>
        </p:nvSpPr>
        <p:spPr>
          <a:xfrm>
            <a:off x="3433320" y="4244400"/>
            <a:ext cx="2212920" cy="360"/>
          </a:xfrm>
          <a:prstGeom prst="line">
            <a:avLst/>
          </a:prstGeom>
          <a:ln w="9525">
            <a:solidFill>
              <a:srgbClr val="00FF9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8"/>
          <p:cNvSpPr/>
          <p:nvPr/>
        </p:nvSpPr>
        <p:spPr>
          <a:xfrm>
            <a:off x="3346560" y="4014000"/>
            <a:ext cx="24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Every action logged in activity_logs table with username, role, action description, timestamp, and IP address.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9"/>
          <p:cNvSpPr/>
          <p:nvPr/>
        </p:nvSpPr>
        <p:spPr>
          <a:xfrm>
            <a:off x="6190560" y="3126600"/>
            <a:ext cx="2669400" cy="1852200"/>
          </a:xfrm>
          <a:prstGeom prst="roundRect">
            <a:avLst>
              <a:gd name="adj" fmla="val 5490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0"/>
          <p:cNvSpPr/>
          <p:nvPr/>
        </p:nvSpPr>
        <p:spPr>
          <a:xfrm>
            <a:off x="6089760" y="3657600"/>
            <a:ext cx="26694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3" name="Image 5" descr="preencoded.png"/>
          <p:cNvPicPr/>
          <p:nvPr/>
        </p:nvPicPr>
        <p:blipFill>
          <a:blip r:embed="rId6"/>
          <a:stretch/>
        </p:blipFill>
        <p:spPr>
          <a:xfrm>
            <a:off x="7185960" y="3354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Text 31"/>
          <p:cNvSpPr/>
          <p:nvPr/>
        </p:nvSpPr>
        <p:spPr>
          <a:xfrm>
            <a:off x="6089760" y="388008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Password History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2"/>
          <p:cNvSpPr/>
          <p:nvPr/>
        </p:nvSpPr>
        <p:spPr>
          <a:xfrm>
            <a:off x="6327360" y="4231080"/>
            <a:ext cx="2212920" cy="360"/>
          </a:xfrm>
          <a:prstGeom prst="line">
            <a:avLst/>
          </a:prstGeom>
          <a:ln w="9525">
            <a:solidFill>
              <a:srgbClr val="00FFD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33"/>
          <p:cNvSpPr/>
          <p:nvPr/>
        </p:nvSpPr>
        <p:spPr>
          <a:xfrm>
            <a:off x="6273000" y="4006080"/>
            <a:ext cx="2413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Last 3 password hashes stored in password_history table. Reuse of any previous 3 passwords is blocked outright.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2"/>
          <p:cNvSpPr/>
          <p:nvPr/>
        </p:nvSpPr>
        <p:spPr>
          <a:xfrm>
            <a:off x="429120" y="38520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FFB700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08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Medicine &amp; Dispensary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FFB700"/>
                </a:solidFill>
                <a:effectLst/>
                <a:uFillTx/>
                <a:latin typeface="Calibri"/>
              </a:rPr>
              <a:t>Add Medicine . Edit Medicine . Search Medicine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FFB700">
              <a:alpha val="7000"/>
            </a:srgbClr>
          </a:solidFill>
          <a:ln w="12700">
            <a:solidFill>
              <a:srgbClr val="FFB700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FF2D78">
              <a:alpha val="10000"/>
            </a:srgbClr>
          </a:solidFill>
          <a:ln w="12700">
            <a:solidFill>
              <a:srgbClr val="FF2D7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9D4EDD"/>
                </a:solidFill>
                <a:effectLst/>
                <a:uFillTx/>
                <a:latin typeface="Calibri"/>
              </a:rPr>
              <a:t>MEDICINE MODULE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Medicine &amp; Dispensary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4"/>
          <p:cNvSpPr/>
          <p:nvPr/>
        </p:nvSpPr>
        <p:spPr>
          <a:xfrm>
            <a:off x="384120" y="1143000"/>
            <a:ext cx="2724120" cy="749160"/>
          </a:xfrm>
          <a:prstGeom prst="roundRect">
            <a:avLst>
              <a:gd name="adj" fmla="val 12195"/>
            </a:avLst>
          </a:prstGeom>
          <a:solidFill>
            <a:srgbClr val="0F1A2E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Image 0" descr="preencoded.png"/>
          <p:cNvPicPr/>
          <p:nvPr/>
        </p:nvPicPr>
        <p:blipFill>
          <a:blip r:embed="rId1"/>
          <a:stretch/>
        </p:blipFill>
        <p:spPr>
          <a:xfrm>
            <a:off x="511920" y="126180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Text 5"/>
          <p:cNvSpPr/>
          <p:nvPr/>
        </p:nvSpPr>
        <p:spPr>
          <a:xfrm>
            <a:off x="951120" y="1188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PHYSICIAN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951120" y="1481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Full Access — Add, Edit, Delete, Prescribe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3255120" y="1143000"/>
            <a:ext cx="2724120" cy="749160"/>
          </a:xfrm>
          <a:prstGeom prst="roundRect">
            <a:avLst>
              <a:gd name="adj" fmla="val 12195"/>
            </a:avLst>
          </a:prstGeom>
          <a:solidFill>
            <a:srgbClr val="0F1A2E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4" name="Image 1" descr="preencoded.png"/>
          <p:cNvPicPr/>
          <p:nvPr/>
        </p:nvPicPr>
        <p:blipFill>
          <a:blip r:embed="rId2"/>
          <a:stretch/>
        </p:blipFill>
        <p:spPr>
          <a:xfrm>
            <a:off x="3383280" y="126180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Text 8"/>
          <p:cNvSpPr/>
          <p:nvPr/>
        </p:nvSpPr>
        <p:spPr>
          <a:xfrm>
            <a:off x="3844080" y="12326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CLERK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9"/>
          <p:cNvSpPr/>
          <p:nvPr/>
        </p:nvSpPr>
        <p:spPr>
          <a:xfrm>
            <a:off x="3822120" y="1481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View Prescriptions only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10"/>
          <p:cNvSpPr/>
          <p:nvPr/>
        </p:nvSpPr>
        <p:spPr>
          <a:xfrm>
            <a:off x="6126480" y="1143000"/>
            <a:ext cx="2724120" cy="703800"/>
          </a:xfrm>
          <a:prstGeom prst="roundRect">
            <a:avLst>
              <a:gd name="adj" fmla="val 12195"/>
            </a:avLst>
          </a:prstGeom>
          <a:solidFill>
            <a:srgbClr val="0F1A2E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8" name="Image 2" descr="preencoded.png"/>
          <p:cNvPicPr/>
          <p:nvPr/>
        </p:nvPicPr>
        <p:blipFill>
          <a:blip r:embed="rId3"/>
          <a:stretch/>
        </p:blipFill>
        <p:spPr>
          <a:xfrm>
            <a:off x="6254640" y="126180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Text 11"/>
          <p:cNvSpPr/>
          <p:nvPr/>
        </p:nvSpPr>
        <p:spPr>
          <a:xfrm>
            <a:off x="6693480" y="11887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NURSE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2"/>
          <p:cNvSpPr/>
          <p:nvPr/>
        </p:nvSpPr>
        <p:spPr>
          <a:xfrm>
            <a:off x="6693480" y="1481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View Prescriptions only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3"/>
          <p:cNvSpPr/>
          <p:nvPr/>
        </p:nvSpPr>
        <p:spPr>
          <a:xfrm>
            <a:off x="384120" y="2035080"/>
            <a:ext cx="2669400" cy="151812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4"/>
          <p:cNvSpPr/>
          <p:nvPr/>
        </p:nvSpPr>
        <p:spPr>
          <a:xfrm>
            <a:off x="384120" y="2057400"/>
            <a:ext cx="26694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3" name="Image 3" descr="preencoded.png"/>
          <p:cNvPicPr/>
          <p:nvPr/>
        </p:nvPicPr>
        <p:blipFill>
          <a:blip r:embed="rId4"/>
          <a:stretch/>
        </p:blipFill>
        <p:spPr>
          <a:xfrm>
            <a:off x="1499760" y="22035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15"/>
          <p:cNvSpPr/>
          <p:nvPr/>
        </p:nvSpPr>
        <p:spPr>
          <a:xfrm>
            <a:off x="384120" y="271584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Add Medicine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6"/>
          <p:cNvSpPr/>
          <p:nvPr/>
        </p:nvSpPr>
        <p:spPr>
          <a:xfrm>
            <a:off x="511920" y="276696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Name, Category, Unit, Price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Saved to medicines table with stock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7"/>
          <p:cNvSpPr/>
          <p:nvPr/>
        </p:nvSpPr>
        <p:spPr>
          <a:xfrm>
            <a:off x="3277440" y="2011320"/>
            <a:ext cx="2669400" cy="151812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8"/>
          <p:cNvSpPr/>
          <p:nvPr/>
        </p:nvSpPr>
        <p:spPr>
          <a:xfrm>
            <a:off x="3255120" y="2057400"/>
            <a:ext cx="26694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8" name="Image 4" descr="preencoded.png"/>
          <p:cNvPicPr/>
          <p:nvPr/>
        </p:nvPicPr>
        <p:blipFill>
          <a:blip r:embed="rId5"/>
          <a:stretch/>
        </p:blipFill>
        <p:spPr>
          <a:xfrm>
            <a:off x="4370760" y="21610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 19"/>
          <p:cNvSpPr/>
          <p:nvPr/>
        </p:nvSpPr>
        <p:spPr>
          <a:xfrm>
            <a:off x="3255120" y="266364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Edit Medicine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0"/>
          <p:cNvSpPr/>
          <p:nvPr/>
        </p:nvSpPr>
        <p:spPr>
          <a:xfrm>
            <a:off x="3393720" y="277416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Update any medicine field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Changes reflected immediately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21"/>
          <p:cNvSpPr/>
          <p:nvPr/>
        </p:nvSpPr>
        <p:spPr>
          <a:xfrm>
            <a:off x="6126120" y="2011320"/>
            <a:ext cx="2669400" cy="154188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22"/>
          <p:cNvSpPr/>
          <p:nvPr/>
        </p:nvSpPr>
        <p:spPr>
          <a:xfrm>
            <a:off x="6126480" y="2057400"/>
            <a:ext cx="266940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5" descr="preencoded.png"/>
          <p:cNvPicPr/>
          <p:nvPr/>
        </p:nvPicPr>
        <p:blipFill>
          <a:blip r:embed="rId6"/>
          <a:stretch/>
        </p:blipFill>
        <p:spPr>
          <a:xfrm>
            <a:off x="7221960" y="218520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23"/>
          <p:cNvSpPr/>
          <p:nvPr/>
        </p:nvSpPr>
        <p:spPr>
          <a:xfrm>
            <a:off x="6126480" y="262980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Search Medicine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4"/>
          <p:cNvSpPr/>
          <p:nvPr/>
        </p:nvSpPr>
        <p:spPr>
          <a:xfrm>
            <a:off x="6346080" y="269424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Real-time search by Name 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Category across all medicines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25"/>
          <p:cNvSpPr/>
          <p:nvPr/>
        </p:nvSpPr>
        <p:spPr>
          <a:xfrm>
            <a:off x="394920" y="3718440"/>
            <a:ext cx="2669400" cy="130536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6"/>
          <p:cNvSpPr/>
          <p:nvPr/>
        </p:nvSpPr>
        <p:spPr>
          <a:xfrm>
            <a:off x="384120" y="4270320"/>
            <a:ext cx="26694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6" descr="preencoded.png"/>
          <p:cNvPicPr/>
          <p:nvPr/>
        </p:nvPicPr>
        <p:blipFill>
          <a:blip r:embed="rId7"/>
          <a:stretch/>
        </p:blipFill>
        <p:spPr>
          <a:xfrm>
            <a:off x="1444680" y="38368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27"/>
          <p:cNvSpPr/>
          <p:nvPr/>
        </p:nvSpPr>
        <p:spPr>
          <a:xfrm>
            <a:off x="347760" y="433980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Prescribe Medicine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28"/>
          <p:cNvSpPr/>
          <p:nvPr/>
        </p:nvSpPr>
        <p:spPr>
          <a:xfrm>
            <a:off x="483120" y="432144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Assign medicine + dosage +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date to any patient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9"/>
          <p:cNvSpPr/>
          <p:nvPr/>
        </p:nvSpPr>
        <p:spPr>
          <a:xfrm>
            <a:off x="3290760" y="3688920"/>
            <a:ext cx="2669400" cy="130536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0"/>
          <p:cNvSpPr/>
          <p:nvPr/>
        </p:nvSpPr>
        <p:spPr>
          <a:xfrm>
            <a:off x="3255120" y="4270320"/>
            <a:ext cx="266940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7" descr="preencoded.png"/>
          <p:cNvPicPr/>
          <p:nvPr/>
        </p:nvPicPr>
        <p:blipFill>
          <a:blip r:embed="rId8"/>
          <a:stretch/>
        </p:blipFill>
        <p:spPr>
          <a:xfrm>
            <a:off x="4228560" y="37947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31"/>
          <p:cNvSpPr/>
          <p:nvPr/>
        </p:nvSpPr>
        <p:spPr>
          <a:xfrm>
            <a:off x="3199680" y="423324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View Prescriptions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32"/>
          <p:cNvSpPr/>
          <p:nvPr/>
        </p:nvSpPr>
        <p:spPr>
          <a:xfrm>
            <a:off x="3319560" y="426456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Complete prescription history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with search &amp; filter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33"/>
          <p:cNvSpPr/>
          <p:nvPr/>
        </p:nvSpPr>
        <p:spPr>
          <a:xfrm>
            <a:off x="6218280" y="3688920"/>
            <a:ext cx="2669400" cy="1305360"/>
          </a:xfrm>
          <a:prstGeom prst="roundRect">
            <a:avLst>
              <a:gd name="adj" fmla="val 5455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34"/>
          <p:cNvSpPr/>
          <p:nvPr/>
        </p:nvSpPr>
        <p:spPr>
          <a:xfrm>
            <a:off x="6126480" y="4270320"/>
            <a:ext cx="26694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8" descr="preencoded.png"/>
          <p:cNvPicPr/>
          <p:nvPr/>
        </p:nvPicPr>
        <p:blipFill>
          <a:blip r:embed="rId9"/>
          <a:stretch/>
        </p:blipFill>
        <p:spPr>
          <a:xfrm>
            <a:off x="7333920" y="38134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35"/>
          <p:cNvSpPr/>
          <p:nvPr/>
        </p:nvSpPr>
        <p:spPr>
          <a:xfrm>
            <a:off x="6254280" y="4292280"/>
            <a:ext cx="2669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Remove Prescription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6"/>
          <p:cNvSpPr/>
          <p:nvPr/>
        </p:nvSpPr>
        <p:spPr>
          <a:xfrm>
            <a:off x="6437160" y="4314600"/>
            <a:ext cx="241344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Delete patient prescription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with confirmation dialog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274320" y="34956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00FF9F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09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Billing &amp; Reports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pc="99" strike="noStrike">
                <a:solidFill>
                  <a:srgbClr val="00FF9F"/>
                </a:solidFill>
                <a:effectLst/>
                <a:uFillTx/>
                <a:latin typeface="Calibri"/>
              </a:rPr>
              <a:t>Calculate Bill – Export Reports in CSV &amp; PDF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00FF9F">
              <a:alpha val="7000"/>
            </a:srgbClr>
          </a:solidFill>
          <a:ln w="12700">
            <a:solidFill>
              <a:srgbClr val="00FF9F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FFD4">
              <a:alpha val="10000"/>
            </a:srgbClr>
          </a:solidFill>
          <a:ln w="12700">
            <a:solidFill>
              <a:srgbClr val="00FFD4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FFB700"/>
                </a:solidFill>
                <a:effectLst/>
                <a:uFillTx/>
                <a:latin typeface="Calibri"/>
              </a:rPr>
              <a:t>BILLING &amp; REPORTS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Billing &amp; Reports Module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402480" y="1084320"/>
            <a:ext cx="4041000" cy="3981240"/>
          </a:xfrm>
          <a:prstGeom prst="roundRect">
            <a:avLst>
              <a:gd name="adj" fmla="val 3167"/>
            </a:avLst>
          </a:prstGeom>
          <a:solidFill>
            <a:srgbClr val="0A1020"/>
          </a:solidFill>
          <a:ln w="228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5"/>
          <p:cNvSpPr/>
          <p:nvPr/>
        </p:nvSpPr>
        <p:spPr>
          <a:xfrm>
            <a:off x="384120" y="1143000"/>
            <a:ext cx="404100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5" name="Image 0" descr="preencoded.png"/>
          <p:cNvPicPr/>
          <p:nvPr/>
        </p:nvPicPr>
        <p:blipFill>
          <a:blip r:embed="rId1"/>
          <a:stretch/>
        </p:blipFill>
        <p:spPr>
          <a:xfrm>
            <a:off x="621720" y="126180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Text 6"/>
          <p:cNvSpPr/>
          <p:nvPr/>
        </p:nvSpPr>
        <p:spPr>
          <a:xfrm>
            <a:off x="1188720" y="1234440"/>
            <a:ext cx="3062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Billing Module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7"/>
          <p:cNvSpPr/>
          <p:nvPr/>
        </p:nvSpPr>
        <p:spPr>
          <a:xfrm>
            <a:off x="548640" y="1883520"/>
            <a:ext cx="3749040" cy="360"/>
          </a:xfrm>
          <a:prstGeom prst="line">
            <a:avLst/>
          </a:prstGeom>
          <a:ln w="12700">
            <a:solidFill>
              <a:srgbClr val="FFB700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8" name="Image 1" descr="preencoded.png"/>
          <p:cNvPicPr/>
          <p:nvPr/>
        </p:nvPicPr>
        <p:blipFill>
          <a:blip r:embed="rId2"/>
          <a:stretch/>
        </p:blipFill>
        <p:spPr>
          <a:xfrm>
            <a:off x="567000" y="20116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Text 8"/>
          <p:cNvSpPr/>
          <p:nvPr/>
        </p:nvSpPr>
        <p:spPr>
          <a:xfrm>
            <a:off x="932760" y="197496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Select patient &amp; enter consultation fee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0" name="Image 2" descr="preencoded.png"/>
          <p:cNvPicPr/>
          <p:nvPr/>
        </p:nvPicPr>
        <p:blipFill>
          <a:blip r:embed="rId3"/>
          <a:stretch/>
        </p:blipFill>
        <p:spPr>
          <a:xfrm>
            <a:off x="567000" y="24598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Text 9"/>
          <p:cNvSpPr/>
          <p:nvPr/>
        </p:nvSpPr>
        <p:spPr>
          <a:xfrm>
            <a:off x="932760" y="242316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Room charges × days auto-calculated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2" name="Image 3" descr="preencoded.png"/>
          <p:cNvPicPr/>
          <p:nvPr/>
        </p:nvPicPr>
        <p:blipFill>
          <a:blip r:embed="rId4"/>
          <a:stretch/>
        </p:blipFill>
        <p:spPr>
          <a:xfrm>
            <a:off x="567000" y="29077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Text 10"/>
          <p:cNvSpPr/>
          <p:nvPr/>
        </p:nvSpPr>
        <p:spPr>
          <a:xfrm>
            <a:off x="932760" y="287136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Medicine charges included automatically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4" name="Image 4" descr="preencoded.png"/>
          <p:cNvPicPr/>
          <p:nvPr/>
        </p:nvPicPr>
        <p:blipFill>
          <a:blip r:embed="rId5"/>
          <a:stretch/>
        </p:blipFill>
        <p:spPr>
          <a:xfrm>
            <a:off x="567000" y="33559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Text 11"/>
          <p:cNvSpPr/>
          <p:nvPr/>
        </p:nvSpPr>
        <p:spPr>
          <a:xfrm>
            <a:off x="932760" y="331920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Total auto-computed in real-time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6" name="Image 5" descr="preencoded.png"/>
          <p:cNvPicPr/>
          <p:nvPr/>
        </p:nvPicPr>
        <p:blipFill>
          <a:blip r:embed="rId6"/>
          <a:stretch/>
        </p:blipFill>
        <p:spPr>
          <a:xfrm>
            <a:off x="567000" y="38037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7" name="Text 12"/>
          <p:cNvSpPr/>
          <p:nvPr/>
        </p:nvSpPr>
        <p:spPr>
          <a:xfrm>
            <a:off x="932760" y="376740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Professional PDF invoice export (iText)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8" name="Image 6" descr="preencoded.png"/>
          <p:cNvPicPr/>
          <p:nvPr/>
        </p:nvPicPr>
        <p:blipFill>
          <a:blip r:embed="rId7"/>
          <a:stretch/>
        </p:blipFill>
        <p:spPr>
          <a:xfrm>
            <a:off x="567000" y="42519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 13"/>
          <p:cNvSpPr/>
          <p:nvPr/>
        </p:nvSpPr>
        <p:spPr>
          <a:xfrm>
            <a:off x="932760" y="4215240"/>
            <a:ext cx="3309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Mark bills Paid / Unpaid anytime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0" name="Image 7" descr="preencoded.png"/>
          <p:cNvPicPr/>
          <p:nvPr/>
        </p:nvPicPr>
        <p:blipFill>
          <a:blip r:embed="rId8"/>
          <a:stretch/>
        </p:blipFill>
        <p:spPr>
          <a:xfrm>
            <a:off x="567000" y="470016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1" name="Text 14"/>
          <p:cNvSpPr/>
          <p:nvPr/>
        </p:nvSpPr>
        <p:spPr>
          <a:xfrm>
            <a:off x="932760" y="4663440"/>
            <a:ext cx="33094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Full bill history — re-export any bill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5"/>
          <p:cNvSpPr/>
          <p:nvPr/>
        </p:nvSpPr>
        <p:spPr>
          <a:xfrm>
            <a:off x="4786920" y="1040760"/>
            <a:ext cx="4041000" cy="4035600"/>
          </a:xfrm>
          <a:prstGeom prst="roundRect">
            <a:avLst>
              <a:gd name="adj" fmla="val 3167"/>
            </a:avLst>
          </a:prstGeom>
          <a:solidFill>
            <a:srgbClr val="0A1020"/>
          </a:solidFill>
          <a:ln w="2286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6"/>
          <p:cNvSpPr/>
          <p:nvPr/>
        </p:nvSpPr>
        <p:spPr>
          <a:xfrm>
            <a:off x="4645080" y="1040760"/>
            <a:ext cx="4041000" cy="54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4" name="Image 8" descr="preencoded.png"/>
          <p:cNvPicPr/>
          <p:nvPr/>
        </p:nvPicPr>
        <p:blipFill>
          <a:blip r:embed="rId9"/>
          <a:stretch/>
        </p:blipFill>
        <p:spPr>
          <a:xfrm>
            <a:off x="5028840" y="1232280"/>
            <a:ext cx="402480" cy="36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Text 17"/>
          <p:cNvSpPr/>
          <p:nvPr/>
        </p:nvSpPr>
        <p:spPr>
          <a:xfrm>
            <a:off x="5459400" y="1095120"/>
            <a:ext cx="30625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Reports Module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18"/>
          <p:cNvSpPr/>
          <p:nvPr/>
        </p:nvSpPr>
        <p:spPr>
          <a:xfrm>
            <a:off x="4773240" y="1680480"/>
            <a:ext cx="3749040" cy="360"/>
          </a:xfrm>
          <a:prstGeom prst="line">
            <a:avLst/>
          </a:prstGeom>
          <a:ln w="12700">
            <a:solidFill>
              <a:srgbClr val="00B4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9"/>
          <p:cNvSpPr/>
          <p:nvPr/>
        </p:nvSpPr>
        <p:spPr>
          <a:xfrm>
            <a:off x="4873680" y="1780560"/>
            <a:ext cx="3841920" cy="701280"/>
          </a:xfrm>
          <a:prstGeom prst="roundRect">
            <a:avLst>
              <a:gd name="adj" fmla="val 9804"/>
            </a:avLst>
          </a:prstGeom>
          <a:solidFill>
            <a:srgbClr val="0F1A2E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20"/>
          <p:cNvSpPr/>
          <p:nvPr/>
        </p:nvSpPr>
        <p:spPr>
          <a:xfrm>
            <a:off x="4827960" y="1913040"/>
            <a:ext cx="3794040" cy="36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1"/>
          <p:cNvSpPr/>
          <p:nvPr/>
        </p:nvSpPr>
        <p:spPr>
          <a:xfrm>
            <a:off x="4919400" y="1894680"/>
            <a:ext cx="219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Patient Report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2"/>
          <p:cNvSpPr/>
          <p:nvPr/>
        </p:nvSpPr>
        <p:spPr>
          <a:xfrm>
            <a:off x="4948920" y="2104200"/>
            <a:ext cx="2210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ID · Name · Age · Gender · Phone · 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3"/>
          <p:cNvSpPr/>
          <p:nvPr/>
        </p:nvSpPr>
        <p:spPr>
          <a:xfrm>
            <a:off x="7331760" y="191916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4"/>
          <p:cNvSpPr/>
          <p:nvPr/>
        </p:nvSpPr>
        <p:spPr>
          <a:xfrm>
            <a:off x="7340760" y="193860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PDF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25"/>
          <p:cNvSpPr/>
          <p:nvPr/>
        </p:nvSpPr>
        <p:spPr>
          <a:xfrm>
            <a:off x="7985160" y="191916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6"/>
          <p:cNvSpPr/>
          <p:nvPr/>
        </p:nvSpPr>
        <p:spPr>
          <a:xfrm>
            <a:off x="7971480" y="191628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CSV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27"/>
          <p:cNvSpPr/>
          <p:nvPr/>
        </p:nvSpPr>
        <p:spPr>
          <a:xfrm>
            <a:off x="4891680" y="2648160"/>
            <a:ext cx="3841920" cy="734400"/>
          </a:xfrm>
          <a:prstGeom prst="roundRect">
            <a:avLst>
              <a:gd name="adj" fmla="val 9804"/>
            </a:avLst>
          </a:prstGeom>
          <a:solidFill>
            <a:srgbClr val="0F1A2E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28"/>
          <p:cNvSpPr/>
          <p:nvPr/>
        </p:nvSpPr>
        <p:spPr>
          <a:xfrm>
            <a:off x="4827960" y="3072240"/>
            <a:ext cx="3794040" cy="36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29"/>
          <p:cNvSpPr/>
          <p:nvPr/>
        </p:nvSpPr>
        <p:spPr>
          <a:xfrm>
            <a:off x="4919400" y="2702880"/>
            <a:ext cx="219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Prescription Report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30"/>
          <p:cNvSpPr/>
          <p:nvPr/>
        </p:nvSpPr>
        <p:spPr>
          <a:xfrm>
            <a:off x="4948920" y="29656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Patient · Medicine · Dosage · Prescribed By · Date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31"/>
          <p:cNvSpPr/>
          <p:nvPr/>
        </p:nvSpPr>
        <p:spPr>
          <a:xfrm>
            <a:off x="7355160" y="284184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32"/>
          <p:cNvSpPr/>
          <p:nvPr/>
        </p:nvSpPr>
        <p:spPr>
          <a:xfrm>
            <a:off x="7355160" y="284184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PDF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33"/>
          <p:cNvSpPr/>
          <p:nvPr/>
        </p:nvSpPr>
        <p:spPr>
          <a:xfrm>
            <a:off x="8050320" y="284184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34"/>
          <p:cNvSpPr/>
          <p:nvPr/>
        </p:nvSpPr>
        <p:spPr>
          <a:xfrm>
            <a:off x="8050320" y="284184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CSV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5"/>
          <p:cNvSpPr/>
          <p:nvPr/>
        </p:nvSpPr>
        <p:spPr>
          <a:xfrm>
            <a:off x="4873680" y="3454920"/>
            <a:ext cx="3867480" cy="776160"/>
          </a:xfrm>
          <a:prstGeom prst="roundRect">
            <a:avLst>
              <a:gd name="adj" fmla="val 9804"/>
            </a:avLst>
          </a:prstGeom>
          <a:solidFill>
            <a:srgbClr val="0F1A2E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36"/>
          <p:cNvSpPr/>
          <p:nvPr/>
        </p:nvSpPr>
        <p:spPr>
          <a:xfrm>
            <a:off x="4827960" y="4056120"/>
            <a:ext cx="3794040" cy="36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37"/>
          <p:cNvSpPr/>
          <p:nvPr/>
        </p:nvSpPr>
        <p:spPr>
          <a:xfrm>
            <a:off x="4873680" y="3530160"/>
            <a:ext cx="21938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Room Occupancy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38"/>
          <p:cNvSpPr/>
          <p:nvPr/>
        </p:nvSpPr>
        <p:spPr>
          <a:xfrm>
            <a:off x="4873680" y="37990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Room No · Status (color coded) · Patient Name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39"/>
          <p:cNvSpPr/>
          <p:nvPr/>
        </p:nvSpPr>
        <p:spPr>
          <a:xfrm>
            <a:off x="7309440" y="375336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40"/>
          <p:cNvSpPr/>
          <p:nvPr/>
        </p:nvSpPr>
        <p:spPr>
          <a:xfrm>
            <a:off x="7309440" y="375336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PDF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41"/>
          <p:cNvSpPr/>
          <p:nvPr/>
        </p:nvSpPr>
        <p:spPr>
          <a:xfrm>
            <a:off x="8004600" y="375336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42"/>
          <p:cNvSpPr/>
          <p:nvPr/>
        </p:nvSpPr>
        <p:spPr>
          <a:xfrm>
            <a:off x="8004600" y="375336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CSV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3"/>
          <p:cNvSpPr/>
          <p:nvPr/>
        </p:nvSpPr>
        <p:spPr>
          <a:xfrm>
            <a:off x="4903920" y="4348800"/>
            <a:ext cx="3867480" cy="653040"/>
          </a:xfrm>
          <a:prstGeom prst="roundRect">
            <a:avLst>
              <a:gd name="adj" fmla="val 9804"/>
            </a:avLst>
          </a:prstGeom>
          <a:solidFill>
            <a:srgbClr val="0F1A2E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44"/>
          <p:cNvSpPr/>
          <p:nvPr/>
        </p:nvSpPr>
        <p:spPr>
          <a:xfrm>
            <a:off x="4767840" y="4333320"/>
            <a:ext cx="3794040" cy="36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45"/>
          <p:cNvSpPr/>
          <p:nvPr/>
        </p:nvSpPr>
        <p:spPr>
          <a:xfrm>
            <a:off x="4859280" y="4424760"/>
            <a:ext cx="219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Activity Logs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46"/>
          <p:cNvSpPr/>
          <p:nvPr/>
        </p:nvSpPr>
        <p:spPr>
          <a:xfrm>
            <a:off x="4813560" y="45982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Timestamp · Username · Role · Action Details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47"/>
          <p:cNvSpPr/>
          <p:nvPr/>
        </p:nvSpPr>
        <p:spPr>
          <a:xfrm>
            <a:off x="7287840" y="456372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48"/>
          <p:cNvSpPr/>
          <p:nvPr/>
        </p:nvSpPr>
        <p:spPr>
          <a:xfrm>
            <a:off x="7287840" y="456372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PDF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49"/>
          <p:cNvSpPr/>
          <p:nvPr/>
        </p:nvSpPr>
        <p:spPr>
          <a:xfrm>
            <a:off x="7983000" y="4563720"/>
            <a:ext cx="593640" cy="346680"/>
          </a:xfrm>
          <a:prstGeom prst="roundRect">
            <a:avLst>
              <a:gd name="adj" fmla="val 21053"/>
            </a:avLst>
          </a:prstGeom>
          <a:solidFill>
            <a:srgbClr val="060B14"/>
          </a:solidFill>
          <a:ln w="1270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50"/>
          <p:cNvSpPr/>
          <p:nvPr/>
        </p:nvSpPr>
        <p:spPr>
          <a:xfrm>
            <a:off x="7983000" y="4563720"/>
            <a:ext cx="593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CSV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2"/>
          <p:cNvSpPr/>
          <p:nvPr/>
        </p:nvSpPr>
        <p:spPr>
          <a:xfrm>
            <a:off x="457200" y="475920"/>
            <a:ext cx="45712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0" b="1" u="none" strike="noStrike">
                <a:solidFill>
                  <a:srgbClr val="9D4EDD">
                    <a:alpha val="7000"/>
                  </a:srgbClr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2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3"/>
          <p:cNvSpPr/>
          <p:nvPr/>
        </p:nvSpPr>
        <p:spPr>
          <a:xfrm>
            <a:off x="502920" y="3063240"/>
            <a:ext cx="411408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4"/>
          <p:cNvSpPr/>
          <p:nvPr/>
        </p:nvSpPr>
        <p:spPr>
          <a:xfrm>
            <a:off x="502920" y="32004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Testing &amp; Summary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5"/>
          <p:cNvSpPr/>
          <p:nvPr/>
        </p:nvSpPr>
        <p:spPr>
          <a:xfrm>
            <a:off x="502920" y="4133160"/>
            <a:ext cx="7314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050"/>
                </a:solidFill>
                <a:effectLst/>
                <a:uFillTx/>
                <a:latin typeface="Calibri"/>
              </a:rPr>
              <a:t>Testing, File Tree &amp; Credentials - Administration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6"/>
          <p:cNvSpPr/>
          <p:nvPr/>
        </p:nvSpPr>
        <p:spPr>
          <a:xfrm>
            <a:off x="6858000" y="-914400"/>
            <a:ext cx="3656880" cy="3656880"/>
          </a:xfrm>
          <a:prstGeom prst="ellipse">
            <a:avLst/>
          </a:prstGeom>
          <a:solidFill>
            <a:srgbClr val="9D4EDD">
              <a:alpha val="7000"/>
            </a:srgbClr>
          </a:solidFill>
          <a:ln w="12700">
            <a:solidFill>
              <a:srgbClr val="9D4EDD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7"/>
          <p:cNvSpPr/>
          <p:nvPr/>
        </p:nvSpPr>
        <p:spPr>
          <a:xfrm>
            <a:off x="7772400" y="4114800"/>
            <a:ext cx="2285280" cy="2285280"/>
          </a:xfrm>
          <a:prstGeom prst="ellipse">
            <a:avLst/>
          </a:prstGeom>
          <a:solidFill>
            <a:srgbClr val="00B4FF">
              <a:alpha val="10000"/>
            </a:srgbClr>
          </a:solidFill>
          <a:ln w="12700">
            <a:solidFill>
              <a:srgbClr val="00B4FF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9F"/>
                </a:solidFill>
                <a:effectLst/>
                <a:uFillTx/>
                <a:latin typeface="Calibri"/>
              </a:rPr>
              <a:t>TESTING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2"/>
          <p:cNvSpPr/>
          <p:nvPr/>
        </p:nvSpPr>
        <p:spPr>
          <a:xfrm>
            <a:off x="354240" y="22176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Testing Results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3"/>
          <p:cNvSpPr/>
          <p:nvPr/>
        </p:nvSpPr>
        <p:spPr>
          <a:xfrm>
            <a:off x="457200" y="844560"/>
            <a:ext cx="164520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4"/>
          <p:cNvSpPr/>
          <p:nvPr/>
        </p:nvSpPr>
        <p:spPr>
          <a:xfrm>
            <a:off x="289800" y="855000"/>
            <a:ext cx="2010960" cy="8964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2286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5"/>
          <p:cNvSpPr/>
          <p:nvPr/>
        </p:nvSpPr>
        <p:spPr>
          <a:xfrm>
            <a:off x="384120" y="981720"/>
            <a:ext cx="201096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3" name="Image 0" descr="preencoded.png"/>
          <p:cNvPicPr/>
          <p:nvPr/>
        </p:nvPicPr>
        <p:blipFill>
          <a:blip r:embed="rId1"/>
          <a:stretch/>
        </p:blipFill>
        <p:spPr>
          <a:xfrm>
            <a:off x="484920" y="1036800"/>
            <a:ext cx="44712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4" name="Text 6"/>
          <p:cNvSpPr/>
          <p:nvPr/>
        </p:nvSpPr>
        <p:spPr>
          <a:xfrm>
            <a:off x="878040" y="827640"/>
            <a:ext cx="120636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FFD4"/>
                </a:solidFill>
                <a:effectLst/>
                <a:uFillTx/>
                <a:latin typeface="Cambria"/>
                <a:ea typeface="Cambria"/>
              </a:rPr>
              <a:t>25+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7"/>
          <p:cNvSpPr/>
          <p:nvPr/>
        </p:nvSpPr>
        <p:spPr>
          <a:xfrm>
            <a:off x="424080" y="140940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Test Cases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8"/>
          <p:cNvSpPr/>
          <p:nvPr/>
        </p:nvSpPr>
        <p:spPr>
          <a:xfrm>
            <a:off x="2392920" y="849600"/>
            <a:ext cx="2010960" cy="8964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228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9"/>
          <p:cNvSpPr/>
          <p:nvPr/>
        </p:nvSpPr>
        <p:spPr>
          <a:xfrm>
            <a:off x="2541960" y="981720"/>
            <a:ext cx="201096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1" descr="preencoded.png"/>
          <p:cNvPicPr/>
          <p:nvPr/>
        </p:nvPicPr>
        <p:blipFill>
          <a:blip r:embed="rId2"/>
          <a:stretch/>
        </p:blipFill>
        <p:spPr>
          <a:xfrm>
            <a:off x="2532240" y="112788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10"/>
          <p:cNvSpPr/>
          <p:nvPr/>
        </p:nvSpPr>
        <p:spPr>
          <a:xfrm>
            <a:off x="2849400" y="954000"/>
            <a:ext cx="1569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FF9F"/>
                </a:solidFill>
                <a:effectLst/>
                <a:uFillTx/>
                <a:latin typeface="Cambria"/>
                <a:ea typeface="Cambria"/>
              </a:rPr>
              <a:t>100 %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1"/>
          <p:cNvSpPr/>
          <p:nvPr/>
        </p:nvSpPr>
        <p:spPr>
          <a:xfrm>
            <a:off x="2496240" y="14936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Pass Rate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12"/>
          <p:cNvSpPr/>
          <p:nvPr/>
        </p:nvSpPr>
        <p:spPr>
          <a:xfrm>
            <a:off x="4705560" y="782640"/>
            <a:ext cx="2010960" cy="89640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228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3"/>
          <p:cNvSpPr/>
          <p:nvPr/>
        </p:nvSpPr>
        <p:spPr>
          <a:xfrm>
            <a:off x="4700160" y="981720"/>
            <a:ext cx="201096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Image 2" descr="preencoded.png"/>
          <p:cNvPicPr/>
          <p:nvPr/>
        </p:nvPicPr>
        <p:blipFill>
          <a:blip r:embed="rId3"/>
          <a:stretch/>
        </p:blipFill>
        <p:spPr>
          <a:xfrm>
            <a:off x="4846320" y="100908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4" name="Text 14"/>
          <p:cNvSpPr/>
          <p:nvPr/>
        </p:nvSpPr>
        <p:spPr>
          <a:xfrm>
            <a:off x="5357880" y="800280"/>
            <a:ext cx="1206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2D78"/>
                </a:solidFill>
                <a:effectLst/>
                <a:uFillTx/>
                <a:latin typeface="Cambria"/>
                <a:ea typeface="Cambria"/>
              </a:rPr>
              <a:t>0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5"/>
          <p:cNvSpPr/>
          <p:nvPr/>
        </p:nvSpPr>
        <p:spPr>
          <a:xfrm>
            <a:off x="4919760" y="142380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Failures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6"/>
          <p:cNvSpPr/>
          <p:nvPr/>
        </p:nvSpPr>
        <p:spPr>
          <a:xfrm>
            <a:off x="6886440" y="763200"/>
            <a:ext cx="2010960" cy="921240"/>
          </a:xfrm>
          <a:prstGeom prst="roundRect">
            <a:avLst>
              <a:gd name="adj" fmla="val 7742"/>
            </a:avLst>
          </a:prstGeom>
          <a:solidFill>
            <a:srgbClr val="0A1020"/>
          </a:solidFill>
          <a:ln w="2286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7"/>
          <p:cNvSpPr/>
          <p:nvPr/>
        </p:nvSpPr>
        <p:spPr>
          <a:xfrm>
            <a:off x="6858000" y="981720"/>
            <a:ext cx="201096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8" name="Image 3" descr="preencoded.png"/>
          <p:cNvPicPr/>
          <p:nvPr/>
        </p:nvPicPr>
        <p:blipFill>
          <a:blip r:embed="rId4"/>
          <a:stretch/>
        </p:blipFill>
        <p:spPr>
          <a:xfrm>
            <a:off x="7050240" y="112032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Text 18"/>
          <p:cNvSpPr/>
          <p:nvPr/>
        </p:nvSpPr>
        <p:spPr>
          <a:xfrm>
            <a:off x="7498080" y="800280"/>
            <a:ext cx="1206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9D4EDD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9"/>
          <p:cNvSpPr/>
          <p:nvPr/>
        </p:nvSpPr>
        <p:spPr>
          <a:xfrm>
            <a:off x="7147440" y="14324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Security Tests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20"/>
          <p:cNvSpPr/>
          <p:nvPr/>
        </p:nvSpPr>
        <p:spPr>
          <a:xfrm>
            <a:off x="457200" y="1825560"/>
            <a:ext cx="2669400" cy="249480"/>
          </a:xfrm>
          <a:prstGeom prst="roundRect">
            <a:avLst>
              <a:gd name="adj" fmla="val 15789"/>
            </a:avLst>
          </a:prstGeom>
          <a:solidFill>
            <a:srgbClr val="0F1A2E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1"/>
          <p:cNvSpPr/>
          <p:nvPr/>
        </p:nvSpPr>
        <p:spPr>
          <a:xfrm>
            <a:off x="457200" y="1825560"/>
            <a:ext cx="26694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Test Case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2"/>
          <p:cNvSpPr/>
          <p:nvPr/>
        </p:nvSpPr>
        <p:spPr>
          <a:xfrm>
            <a:off x="3250080" y="1825560"/>
            <a:ext cx="2491560" cy="249480"/>
          </a:xfrm>
          <a:prstGeom prst="roundRect">
            <a:avLst>
              <a:gd name="adj" fmla="val 15789"/>
            </a:avLst>
          </a:prstGeom>
          <a:solidFill>
            <a:srgbClr val="0F1A2E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23"/>
          <p:cNvSpPr/>
          <p:nvPr/>
        </p:nvSpPr>
        <p:spPr>
          <a:xfrm>
            <a:off x="3250080" y="1825560"/>
            <a:ext cx="24915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Expected Output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4"/>
          <p:cNvSpPr/>
          <p:nvPr/>
        </p:nvSpPr>
        <p:spPr>
          <a:xfrm>
            <a:off x="5835240" y="1825560"/>
            <a:ext cx="1378800" cy="249480"/>
          </a:xfrm>
          <a:prstGeom prst="roundRect">
            <a:avLst>
              <a:gd name="adj" fmla="val 15789"/>
            </a:avLst>
          </a:prstGeom>
          <a:solidFill>
            <a:srgbClr val="0F1A2E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25"/>
          <p:cNvSpPr/>
          <p:nvPr/>
        </p:nvSpPr>
        <p:spPr>
          <a:xfrm>
            <a:off x="5835240" y="1825560"/>
            <a:ext cx="13788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Category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26"/>
          <p:cNvSpPr/>
          <p:nvPr/>
        </p:nvSpPr>
        <p:spPr>
          <a:xfrm>
            <a:off x="7304040" y="1825560"/>
            <a:ext cx="1263240" cy="249480"/>
          </a:xfrm>
          <a:prstGeom prst="roundRect">
            <a:avLst>
              <a:gd name="adj" fmla="val 15789"/>
            </a:avLst>
          </a:prstGeom>
          <a:solidFill>
            <a:srgbClr val="0F1A2E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27"/>
          <p:cNvSpPr/>
          <p:nvPr/>
        </p:nvSpPr>
        <p:spPr>
          <a:xfrm>
            <a:off x="7304040" y="1825560"/>
            <a:ext cx="12632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Result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8"/>
          <p:cNvSpPr/>
          <p:nvPr/>
        </p:nvSpPr>
        <p:spPr>
          <a:xfrm>
            <a:off x="415440" y="2204280"/>
            <a:ext cx="8151840" cy="262800"/>
          </a:xfrm>
          <a:prstGeom prst="rect">
            <a:avLst/>
          </a:prstGeom>
          <a:solidFill>
            <a:srgbClr val="0A1020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9"/>
          <p:cNvSpPr/>
          <p:nvPr/>
        </p:nvSpPr>
        <p:spPr>
          <a:xfrm>
            <a:off x="509400" y="224244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Valid Login + OTP Flow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0"/>
          <p:cNvSpPr/>
          <p:nvPr/>
        </p:nvSpPr>
        <p:spPr>
          <a:xfrm>
            <a:off x="3303000" y="224244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OTP sent, dashboard opens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31"/>
          <p:cNvSpPr/>
          <p:nvPr/>
        </p:nvSpPr>
        <p:spPr>
          <a:xfrm>
            <a:off x="5958000" y="227448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32"/>
          <p:cNvSpPr/>
          <p:nvPr/>
        </p:nvSpPr>
        <p:spPr>
          <a:xfrm>
            <a:off x="5958000" y="227448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Auth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33"/>
          <p:cNvSpPr/>
          <p:nvPr/>
        </p:nvSpPr>
        <p:spPr>
          <a:xfrm>
            <a:off x="7362360" y="227448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34"/>
          <p:cNvSpPr/>
          <p:nvPr/>
        </p:nvSpPr>
        <p:spPr>
          <a:xfrm>
            <a:off x="7362360" y="227448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5"/>
          <p:cNvSpPr/>
          <p:nvPr/>
        </p:nvSpPr>
        <p:spPr>
          <a:xfrm>
            <a:off x="424080" y="2615040"/>
            <a:ext cx="8151840" cy="262800"/>
          </a:xfrm>
          <a:prstGeom prst="rect">
            <a:avLst/>
          </a:prstGeom>
          <a:solidFill>
            <a:srgbClr val="0F1A2E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36"/>
          <p:cNvSpPr/>
          <p:nvPr/>
        </p:nvSpPr>
        <p:spPr>
          <a:xfrm>
            <a:off x="509400" y="262656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Wrong OTP Entered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37"/>
          <p:cNvSpPr/>
          <p:nvPr/>
        </p:nvSpPr>
        <p:spPr>
          <a:xfrm>
            <a:off x="3303000" y="262656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Error message displayed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38"/>
          <p:cNvSpPr/>
          <p:nvPr/>
        </p:nvSpPr>
        <p:spPr>
          <a:xfrm>
            <a:off x="5958000" y="265860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39"/>
          <p:cNvSpPr/>
          <p:nvPr/>
        </p:nvSpPr>
        <p:spPr>
          <a:xfrm>
            <a:off x="5958000" y="265860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Auth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40"/>
          <p:cNvSpPr/>
          <p:nvPr/>
        </p:nvSpPr>
        <p:spPr>
          <a:xfrm>
            <a:off x="7362360" y="265860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41"/>
          <p:cNvSpPr/>
          <p:nvPr/>
        </p:nvSpPr>
        <p:spPr>
          <a:xfrm>
            <a:off x="7362360" y="265860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42"/>
          <p:cNvSpPr/>
          <p:nvPr/>
        </p:nvSpPr>
        <p:spPr>
          <a:xfrm>
            <a:off x="431280" y="2995920"/>
            <a:ext cx="8151840" cy="262800"/>
          </a:xfrm>
          <a:prstGeom prst="rect">
            <a:avLst/>
          </a:prstGeom>
          <a:solidFill>
            <a:srgbClr val="0A1020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43"/>
          <p:cNvSpPr/>
          <p:nvPr/>
        </p:nvSpPr>
        <p:spPr>
          <a:xfrm>
            <a:off x="509400" y="301068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3 Failed Logins → Lock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44"/>
          <p:cNvSpPr/>
          <p:nvPr/>
        </p:nvSpPr>
        <p:spPr>
          <a:xfrm>
            <a:off x="3303000" y="301068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Account auto-locked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45"/>
          <p:cNvSpPr/>
          <p:nvPr/>
        </p:nvSpPr>
        <p:spPr>
          <a:xfrm>
            <a:off x="5958000" y="304272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46"/>
          <p:cNvSpPr/>
          <p:nvPr/>
        </p:nvSpPr>
        <p:spPr>
          <a:xfrm>
            <a:off x="5958000" y="304272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47"/>
          <p:cNvSpPr/>
          <p:nvPr/>
        </p:nvSpPr>
        <p:spPr>
          <a:xfrm>
            <a:off x="7362360" y="304272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48"/>
          <p:cNvSpPr/>
          <p:nvPr/>
        </p:nvSpPr>
        <p:spPr>
          <a:xfrm>
            <a:off x="7362360" y="304272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49"/>
          <p:cNvSpPr/>
          <p:nvPr/>
        </p:nvSpPr>
        <p:spPr>
          <a:xfrm>
            <a:off x="433800" y="3402000"/>
            <a:ext cx="8151840" cy="262800"/>
          </a:xfrm>
          <a:prstGeom prst="rect">
            <a:avLst/>
          </a:prstGeom>
          <a:solidFill>
            <a:srgbClr val="0F1A2E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50"/>
          <p:cNvSpPr/>
          <p:nvPr/>
        </p:nvSpPr>
        <p:spPr>
          <a:xfrm>
            <a:off x="509400" y="339444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Admit &amp; Discharge Patient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51"/>
          <p:cNvSpPr/>
          <p:nvPr/>
        </p:nvSpPr>
        <p:spPr>
          <a:xfrm>
            <a:off x="3303000" y="339444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Room assigned then released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52"/>
          <p:cNvSpPr/>
          <p:nvPr/>
        </p:nvSpPr>
        <p:spPr>
          <a:xfrm>
            <a:off x="5958000" y="342684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53"/>
          <p:cNvSpPr/>
          <p:nvPr/>
        </p:nvSpPr>
        <p:spPr>
          <a:xfrm>
            <a:off x="5958000" y="342684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Patient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54"/>
          <p:cNvSpPr/>
          <p:nvPr/>
        </p:nvSpPr>
        <p:spPr>
          <a:xfrm>
            <a:off x="7362360" y="342684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55"/>
          <p:cNvSpPr/>
          <p:nvPr/>
        </p:nvSpPr>
        <p:spPr>
          <a:xfrm>
            <a:off x="7362360" y="342684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56"/>
          <p:cNvSpPr/>
          <p:nvPr/>
        </p:nvSpPr>
        <p:spPr>
          <a:xfrm>
            <a:off x="431280" y="3769200"/>
            <a:ext cx="8151840" cy="262800"/>
          </a:xfrm>
          <a:prstGeom prst="rect">
            <a:avLst/>
          </a:prstGeom>
          <a:solidFill>
            <a:srgbClr val="0A1020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57"/>
          <p:cNvSpPr/>
          <p:nvPr/>
        </p:nvSpPr>
        <p:spPr>
          <a:xfrm>
            <a:off x="509400" y="377856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Generate PDF Bill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58"/>
          <p:cNvSpPr/>
          <p:nvPr/>
        </p:nvSpPr>
        <p:spPr>
          <a:xfrm>
            <a:off x="3303000" y="377856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PDF file saved to disk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59"/>
          <p:cNvSpPr/>
          <p:nvPr/>
        </p:nvSpPr>
        <p:spPr>
          <a:xfrm>
            <a:off x="5958000" y="381060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60"/>
          <p:cNvSpPr/>
          <p:nvPr/>
        </p:nvSpPr>
        <p:spPr>
          <a:xfrm>
            <a:off x="5958000" y="381060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Billing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61"/>
          <p:cNvSpPr/>
          <p:nvPr/>
        </p:nvSpPr>
        <p:spPr>
          <a:xfrm>
            <a:off x="7362360" y="381060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62"/>
          <p:cNvSpPr/>
          <p:nvPr/>
        </p:nvSpPr>
        <p:spPr>
          <a:xfrm>
            <a:off x="7362360" y="381060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63"/>
          <p:cNvSpPr/>
          <p:nvPr/>
        </p:nvSpPr>
        <p:spPr>
          <a:xfrm>
            <a:off x="443880" y="4136400"/>
            <a:ext cx="8151840" cy="262800"/>
          </a:xfrm>
          <a:prstGeom prst="rect">
            <a:avLst/>
          </a:prstGeom>
          <a:solidFill>
            <a:srgbClr val="0F1A2E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64"/>
          <p:cNvSpPr/>
          <p:nvPr/>
        </p:nvSpPr>
        <p:spPr>
          <a:xfrm>
            <a:off x="509400" y="416268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15-min Auto Logout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65"/>
          <p:cNvSpPr/>
          <p:nvPr/>
        </p:nvSpPr>
        <p:spPr>
          <a:xfrm>
            <a:off x="3303000" y="416268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Redirected to login screen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66"/>
          <p:cNvSpPr/>
          <p:nvPr/>
        </p:nvSpPr>
        <p:spPr>
          <a:xfrm>
            <a:off x="5958000" y="419472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67"/>
          <p:cNvSpPr/>
          <p:nvPr/>
        </p:nvSpPr>
        <p:spPr>
          <a:xfrm>
            <a:off x="5958000" y="419472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Session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68"/>
          <p:cNvSpPr/>
          <p:nvPr/>
        </p:nvSpPr>
        <p:spPr>
          <a:xfrm>
            <a:off x="7362360" y="419472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69"/>
          <p:cNvSpPr/>
          <p:nvPr/>
        </p:nvSpPr>
        <p:spPr>
          <a:xfrm>
            <a:off x="7362360" y="419472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70"/>
          <p:cNvSpPr/>
          <p:nvPr/>
        </p:nvSpPr>
        <p:spPr>
          <a:xfrm>
            <a:off x="438120" y="4494600"/>
            <a:ext cx="8151840" cy="262800"/>
          </a:xfrm>
          <a:prstGeom prst="rect">
            <a:avLst/>
          </a:prstGeom>
          <a:solidFill>
            <a:srgbClr val="0A1020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71"/>
          <p:cNvSpPr/>
          <p:nvPr/>
        </p:nvSpPr>
        <p:spPr>
          <a:xfrm>
            <a:off x="509400" y="454680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Weak Password Attempt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72"/>
          <p:cNvSpPr/>
          <p:nvPr/>
        </p:nvSpPr>
        <p:spPr>
          <a:xfrm>
            <a:off x="3303000" y="454680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Strength error displayed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73"/>
          <p:cNvSpPr/>
          <p:nvPr/>
        </p:nvSpPr>
        <p:spPr>
          <a:xfrm>
            <a:off x="5958000" y="457884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74"/>
          <p:cNvSpPr/>
          <p:nvPr/>
        </p:nvSpPr>
        <p:spPr>
          <a:xfrm>
            <a:off x="5958000" y="457884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75"/>
          <p:cNvSpPr/>
          <p:nvPr/>
        </p:nvSpPr>
        <p:spPr>
          <a:xfrm>
            <a:off x="7362360" y="457884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76"/>
          <p:cNvSpPr/>
          <p:nvPr/>
        </p:nvSpPr>
        <p:spPr>
          <a:xfrm>
            <a:off x="7362360" y="457884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77"/>
          <p:cNvSpPr/>
          <p:nvPr/>
        </p:nvSpPr>
        <p:spPr>
          <a:xfrm>
            <a:off x="438120" y="4848120"/>
            <a:ext cx="8247960" cy="244440"/>
          </a:xfrm>
          <a:prstGeom prst="rect">
            <a:avLst/>
          </a:prstGeom>
          <a:solidFill>
            <a:srgbClr val="0F1A2E"/>
          </a:solidFill>
          <a:ln w="63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78"/>
          <p:cNvSpPr/>
          <p:nvPr/>
        </p:nvSpPr>
        <p:spPr>
          <a:xfrm>
            <a:off x="484920" y="4852800"/>
            <a:ext cx="25804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Password Reuse Attempt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79"/>
          <p:cNvSpPr/>
          <p:nvPr/>
        </p:nvSpPr>
        <p:spPr>
          <a:xfrm>
            <a:off x="3310200" y="4852800"/>
            <a:ext cx="24022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899AA"/>
                </a:solidFill>
                <a:effectLst/>
                <a:uFillTx/>
                <a:latin typeface="Calibri"/>
              </a:rPr>
              <a:t>Reuse blocked with error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80"/>
          <p:cNvSpPr/>
          <p:nvPr/>
        </p:nvSpPr>
        <p:spPr>
          <a:xfrm>
            <a:off x="5965560" y="4885200"/>
            <a:ext cx="120096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81"/>
          <p:cNvSpPr/>
          <p:nvPr/>
        </p:nvSpPr>
        <p:spPr>
          <a:xfrm>
            <a:off x="5965560" y="4885200"/>
            <a:ext cx="12009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82"/>
          <p:cNvSpPr/>
          <p:nvPr/>
        </p:nvSpPr>
        <p:spPr>
          <a:xfrm>
            <a:off x="7369560" y="4885200"/>
            <a:ext cx="1049400" cy="157680"/>
          </a:xfrm>
          <a:prstGeom prst="roundRect">
            <a:avLst>
              <a:gd name="adj" fmla="val 25000"/>
            </a:avLst>
          </a:prstGeom>
          <a:solidFill>
            <a:srgbClr val="060B14"/>
          </a:solidFill>
          <a:ln w="101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83"/>
          <p:cNvSpPr/>
          <p:nvPr/>
        </p:nvSpPr>
        <p:spPr>
          <a:xfrm>
            <a:off x="7369560" y="4885200"/>
            <a:ext cx="10494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✓ PASS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D4"/>
                </a:solidFill>
                <a:effectLst/>
                <a:uFillTx/>
                <a:latin typeface="Calibri"/>
              </a:rPr>
              <a:t>FILE STRUCTURE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Project File Tree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4"/>
          <p:cNvSpPr/>
          <p:nvPr/>
        </p:nvSpPr>
        <p:spPr>
          <a:xfrm>
            <a:off x="347400" y="1170360"/>
            <a:ext cx="2029320" cy="3858480"/>
          </a:xfrm>
          <a:prstGeom prst="roundRect">
            <a:avLst>
              <a:gd name="adj" fmla="val 5405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5"/>
          <p:cNvSpPr/>
          <p:nvPr/>
        </p:nvSpPr>
        <p:spPr>
          <a:xfrm>
            <a:off x="347400" y="1170360"/>
            <a:ext cx="202932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1" name="Image 0" descr="preencoded.png"/>
          <p:cNvPicPr/>
          <p:nvPr/>
        </p:nvPicPr>
        <p:blipFill>
          <a:blip r:embed="rId1"/>
          <a:stretch/>
        </p:blipFill>
        <p:spPr>
          <a:xfrm>
            <a:off x="438840" y="12434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Text 6"/>
          <p:cNvSpPr/>
          <p:nvPr/>
        </p:nvSpPr>
        <p:spPr>
          <a:xfrm>
            <a:off x="822960" y="1188720"/>
            <a:ext cx="1499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Main &amp; Controllers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7"/>
          <p:cNvSpPr/>
          <p:nvPr/>
        </p:nvSpPr>
        <p:spPr>
          <a:xfrm>
            <a:off x="438840" y="1645920"/>
            <a:ext cx="1847160" cy="360"/>
          </a:xfrm>
          <a:prstGeom prst="line">
            <a:avLst/>
          </a:prstGeom>
          <a:ln w="9525">
            <a:solidFill>
              <a:srgbClr val="00B4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4" name="Image 1" descr="preencoded.png"/>
          <p:cNvPicPr/>
          <p:nvPr/>
        </p:nvPicPr>
        <p:blipFill>
          <a:blip r:embed="rId2"/>
          <a:stretch/>
        </p:blipFill>
        <p:spPr>
          <a:xfrm>
            <a:off x="457200" y="17557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Text 8"/>
          <p:cNvSpPr/>
          <p:nvPr/>
        </p:nvSpPr>
        <p:spPr>
          <a:xfrm>
            <a:off x="713160" y="17190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HospitalManagementSystem.java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9"/>
          <p:cNvSpPr/>
          <p:nvPr/>
        </p:nvSpPr>
        <p:spPr>
          <a:xfrm>
            <a:off x="713160" y="197496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Main class, all dashboards, animated login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7" name="Image 2" descr="preencoded.png"/>
          <p:cNvPicPr/>
          <p:nvPr/>
        </p:nvPicPr>
        <p:blipFill>
          <a:blip r:embed="rId3"/>
          <a:stretch/>
        </p:blipFill>
        <p:spPr>
          <a:xfrm>
            <a:off x="457200" y="25941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 10"/>
          <p:cNvSpPr/>
          <p:nvPr/>
        </p:nvSpPr>
        <p:spPr>
          <a:xfrm>
            <a:off x="713160" y="244944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MedicineController.java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11"/>
          <p:cNvSpPr/>
          <p:nvPr/>
        </p:nvSpPr>
        <p:spPr>
          <a:xfrm>
            <a:off x="713160" y="277740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Medicine CRUD &amp; prescription management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0" name="Image 3" descr="preencoded.png"/>
          <p:cNvPicPr/>
          <p:nvPr/>
        </p:nvPicPr>
        <p:blipFill>
          <a:blip r:embed="rId4"/>
          <a:stretch/>
        </p:blipFill>
        <p:spPr>
          <a:xfrm>
            <a:off x="484920" y="34207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Text 12"/>
          <p:cNvSpPr/>
          <p:nvPr/>
        </p:nvSpPr>
        <p:spPr>
          <a:xfrm>
            <a:off x="713160" y="325188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BillingController.java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3"/>
          <p:cNvSpPr/>
          <p:nvPr/>
        </p:nvSpPr>
        <p:spPr>
          <a:xfrm>
            <a:off x="713160" y="361584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Bill generation, PDF invoice, Paid/Unpaid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3" name="Image 4" descr="preencoded.png"/>
          <p:cNvPicPr/>
          <p:nvPr/>
        </p:nvPicPr>
        <p:blipFill>
          <a:blip r:embed="rId5"/>
          <a:stretch/>
        </p:blipFill>
        <p:spPr>
          <a:xfrm>
            <a:off x="457200" y="42714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Text 14"/>
          <p:cNvSpPr/>
          <p:nvPr/>
        </p:nvSpPr>
        <p:spPr>
          <a:xfrm>
            <a:off x="713160" y="412632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ReportGenerator.java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5"/>
          <p:cNvSpPr/>
          <p:nvPr/>
        </p:nvSpPr>
        <p:spPr>
          <a:xfrm>
            <a:off x="713160" y="441828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PDF &amp; CSV reports for all 4 modules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6"/>
          <p:cNvSpPr/>
          <p:nvPr/>
        </p:nvSpPr>
        <p:spPr>
          <a:xfrm>
            <a:off x="2560320" y="1170360"/>
            <a:ext cx="2029320" cy="3858480"/>
          </a:xfrm>
          <a:prstGeom prst="roundRect">
            <a:avLst>
              <a:gd name="adj" fmla="val 5405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7"/>
          <p:cNvSpPr/>
          <p:nvPr/>
        </p:nvSpPr>
        <p:spPr>
          <a:xfrm>
            <a:off x="2560320" y="1170360"/>
            <a:ext cx="202932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8" name="Image 5" descr="preencoded.png"/>
          <p:cNvPicPr/>
          <p:nvPr/>
        </p:nvPicPr>
        <p:blipFill>
          <a:blip r:embed="rId6"/>
          <a:stretch/>
        </p:blipFill>
        <p:spPr>
          <a:xfrm>
            <a:off x="2651760" y="12434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Text 18"/>
          <p:cNvSpPr/>
          <p:nvPr/>
        </p:nvSpPr>
        <p:spPr>
          <a:xfrm>
            <a:off x="3035880" y="1188720"/>
            <a:ext cx="1499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 Layer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19"/>
          <p:cNvSpPr/>
          <p:nvPr/>
        </p:nvSpPr>
        <p:spPr>
          <a:xfrm>
            <a:off x="2651760" y="1645920"/>
            <a:ext cx="1846800" cy="360"/>
          </a:xfrm>
          <a:prstGeom prst="line">
            <a:avLst/>
          </a:prstGeom>
          <a:ln w="9525">
            <a:solidFill>
              <a:srgbClr val="FF2D7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1" name="Image 6" descr="preencoded.png"/>
          <p:cNvPicPr/>
          <p:nvPr/>
        </p:nvPicPr>
        <p:blipFill>
          <a:blip r:embed="rId7"/>
          <a:stretch/>
        </p:blipFill>
        <p:spPr>
          <a:xfrm>
            <a:off x="2670120" y="18997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2" name="Text 20"/>
          <p:cNvSpPr/>
          <p:nvPr/>
        </p:nvSpPr>
        <p:spPr>
          <a:xfrm>
            <a:off x="2926080" y="17190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SecurityManager.java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21"/>
          <p:cNvSpPr/>
          <p:nvPr/>
        </p:nvSpPr>
        <p:spPr>
          <a:xfrm>
            <a:off x="2926080" y="197496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Login attempts, lock, password strength &amp; history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7" descr="preencoded.png"/>
          <p:cNvPicPr/>
          <p:nvPr/>
        </p:nvPicPr>
        <p:blipFill>
          <a:blip r:embed="rId8"/>
          <a:stretch/>
        </p:blipFill>
        <p:spPr>
          <a:xfrm>
            <a:off x="2670120" y="25941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22"/>
          <p:cNvSpPr/>
          <p:nvPr/>
        </p:nvSpPr>
        <p:spPr>
          <a:xfrm>
            <a:off x="2962080" y="244944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SessionManager.java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23"/>
          <p:cNvSpPr/>
          <p:nvPr/>
        </p:nvSpPr>
        <p:spPr>
          <a:xfrm>
            <a:off x="2962080" y="270540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Auto logout 15 min, warning at 13 min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7" name="Image 8" descr="preencoded.png"/>
          <p:cNvPicPr/>
          <p:nvPr/>
        </p:nvPicPr>
        <p:blipFill>
          <a:blip r:embed="rId9"/>
          <a:stretch/>
        </p:blipFill>
        <p:spPr>
          <a:xfrm>
            <a:off x="2670120" y="328824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8" name="Text 24"/>
          <p:cNvSpPr/>
          <p:nvPr/>
        </p:nvSpPr>
        <p:spPr>
          <a:xfrm>
            <a:off x="2926080" y="317988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EmailOTPService.java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25"/>
          <p:cNvSpPr/>
          <p:nvPr/>
        </p:nvSpPr>
        <p:spPr>
          <a:xfrm>
            <a:off x="2926080" y="354384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Gmail SMTP 2FA — generate, send, verify OTP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0" name="Image 9" descr="preencoded.png"/>
          <p:cNvPicPr/>
          <p:nvPr/>
        </p:nvPicPr>
        <p:blipFill>
          <a:blip r:embed="rId10"/>
          <a:stretch/>
        </p:blipFill>
        <p:spPr>
          <a:xfrm>
            <a:off x="2670120" y="41626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1" name="Text 26"/>
          <p:cNvSpPr/>
          <p:nvPr/>
        </p:nvSpPr>
        <p:spPr>
          <a:xfrm>
            <a:off x="2926080" y="401832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DatabaseConnection.java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27"/>
          <p:cNvSpPr/>
          <p:nvPr/>
        </p:nvSpPr>
        <p:spPr>
          <a:xfrm>
            <a:off x="2926080" y="431028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MySQL JDBC Singleton — shared connection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28"/>
          <p:cNvSpPr/>
          <p:nvPr/>
        </p:nvSpPr>
        <p:spPr>
          <a:xfrm>
            <a:off x="4761000" y="1198080"/>
            <a:ext cx="2029320" cy="3830760"/>
          </a:xfrm>
          <a:prstGeom prst="roundRect">
            <a:avLst>
              <a:gd name="adj" fmla="val 5405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29"/>
          <p:cNvSpPr/>
          <p:nvPr/>
        </p:nvSpPr>
        <p:spPr>
          <a:xfrm>
            <a:off x="4773240" y="1170360"/>
            <a:ext cx="202932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5" name="Image 10" descr="preencoded.png"/>
          <p:cNvPicPr/>
          <p:nvPr/>
        </p:nvPicPr>
        <p:blipFill>
          <a:blip r:embed="rId11"/>
          <a:stretch/>
        </p:blipFill>
        <p:spPr>
          <a:xfrm>
            <a:off x="4864680" y="12434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 30"/>
          <p:cNvSpPr/>
          <p:nvPr/>
        </p:nvSpPr>
        <p:spPr>
          <a:xfrm>
            <a:off x="5248800" y="1188720"/>
            <a:ext cx="1499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OOP Models / Roles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31"/>
          <p:cNvSpPr/>
          <p:nvPr/>
        </p:nvSpPr>
        <p:spPr>
          <a:xfrm>
            <a:off x="4864320" y="1645920"/>
            <a:ext cx="1847160" cy="360"/>
          </a:xfrm>
          <a:prstGeom prst="line">
            <a:avLst/>
          </a:prstGeom>
          <a:ln w="9525">
            <a:solidFill>
              <a:srgbClr val="00FF9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8" name="Image 11" descr="preencoded.png"/>
          <p:cNvPicPr/>
          <p:nvPr/>
        </p:nvPicPr>
        <p:blipFill>
          <a:blip r:embed="rId12"/>
          <a:stretch/>
        </p:blipFill>
        <p:spPr>
          <a:xfrm>
            <a:off x="4883040" y="17557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9" name="Text 32"/>
          <p:cNvSpPr/>
          <p:nvPr/>
        </p:nvSpPr>
        <p:spPr>
          <a:xfrm>
            <a:off x="5139000" y="17190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User.java (abstract)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33"/>
          <p:cNvSpPr/>
          <p:nvPr/>
        </p:nvSpPr>
        <p:spPr>
          <a:xfrm>
            <a:off x="5139000" y="190296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Abstract base class — displayMenu()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1" name="Image 12" descr="preencoded.png"/>
          <p:cNvPicPr/>
          <p:nvPr/>
        </p:nvPicPr>
        <p:blipFill>
          <a:blip r:embed="rId13"/>
          <a:stretch/>
        </p:blipFill>
        <p:spPr>
          <a:xfrm>
            <a:off x="4883040" y="23061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2" name="Text 34"/>
          <p:cNvSpPr/>
          <p:nvPr/>
        </p:nvSpPr>
        <p:spPr>
          <a:xfrm>
            <a:off x="5139000" y="226944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Clerk.java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35"/>
          <p:cNvSpPr/>
          <p:nvPr/>
        </p:nvSpPr>
        <p:spPr>
          <a:xfrm>
            <a:off x="5139000" y="248940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Extends User — patient, room, billing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4" name="Image 13" descr="preencoded.png"/>
          <p:cNvPicPr/>
          <p:nvPr/>
        </p:nvPicPr>
        <p:blipFill>
          <a:blip r:embed="rId14"/>
          <a:stretch/>
        </p:blipFill>
        <p:spPr>
          <a:xfrm>
            <a:off x="4883040" y="289224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Text 36"/>
          <p:cNvSpPr/>
          <p:nvPr/>
        </p:nvSpPr>
        <p:spPr>
          <a:xfrm>
            <a:off x="5139000" y="278388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Physician.java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37"/>
          <p:cNvSpPr/>
          <p:nvPr/>
        </p:nvSpPr>
        <p:spPr>
          <a:xfrm>
            <a:off x="5139000" y="296784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Extends User — records, medicines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7" name="Image 14" descr="preencoded.png"/>
          <p:cNvPicPr/>
          <p:nvPr/>
        </p:nvPicPr>
        <p:blipFill>
          <a:blip r:embed="rId15"/>
          <a:stretch/>
        </p:blipFill>
        <p:spPr>
          <a:xfrm>
            <a:off x="4885200" y="34290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8" name="Text 38"/>
          <p:cNvSpPr/>
          <p:nvPr/>
        </p:nvSpPr>
        <p:spPr>
          <a:xfrm>
            <a:off x="5199840" y="329652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Nurse.java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39"/>
          <p:cNvSpPr/>
          <p:nvPr/>
        </p:nvSpPr>
        <p:spPr>
          <a:xfrm>
            <a:off x="5211000" y="348228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Extends User — progress, view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0" name="Image 15" descr="preencoded.png"/>
          <p:cNvPicPr/>
          <p:nvPr/>
        </p:nvPicPr>
        <p:blipFill>
          <a:blip r:embed="rId16"/>
          <a:stretch/>
        </p:blipFill>
        <p:spPr>
          <a:xfrm>
            <a:off x="4883040" y="39211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1" name="Text 40"/>
          <p:cNvSpPr/>
          <p:nvPr/>
        </p:nvSpPr>
        <p:spPr>
          <a:xfrm>
            <a:off x="5211000" y="38124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Patient.java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41"/>
          <p:cNvSpPr/>
          <p:nvPr/>
        </p:nvSpPr>
        <p:spPr>
          <a:xfrm>
            <a:off x="5211000" y="403272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Patient data model with getters/setters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3" name="Image 16" descr="preencoded.png"/>
          <p:cNvPicPr/>
          <p:nvPr/>
        </p:nvPicPr>
        <p:blipFill>
          <a:blip r:embed="rId17"/>
          <a:stretch/>
        </p:blipFill>
        <p:spPr>
          <a:xfrm>
            <a:off x="4900320" y="44640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" name="Text 42"/>
          <p:cNvSpPr/>
          <p:nvPr/>
        </p:nvSpPr>
        <p:spPr>
          <a:xfrm>
            <a:off x="5211000" y="439884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Rooms.java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43"/>
          <p:cNvSpPr/>
          <p:nvPr/>
        </p:nvSpPr>
        <p:spPr>
          <a:xfrm>
            <a:off x="5211000" y="461880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Room model — status, patient assignment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44"/>
          <p:cNvSpPr/>
          <p:nvPr/>
        </p:nvSpPr>
        <p:spPr>
          <a:xfrm>
            <a:off x="6986160" y="1170360"/>
            <a:ext cx="2029320" cy="3858480"/>
          </a:xfrm>
          <a:prstGeom prst="roundRect">
            <a:avLst>
              <a:gd name="adj" fmla="val 5405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45"/>
          <p:cNvSpPr/>
          <p:nvPr/>
        </p:nvSpPr>
        <p:spPr>
          <a:xfrm>
            <a:off x="6986160" y="1170360"/>
            <a:ext cx="202932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8" name="Image 17" descr="preencoded.png"/>
          <p:cNvPicPr/>
          <p:nvPr/>
        </p:nvPicPr>
        <p:blipFill>
          <a:blip r:embed="rId18"/>
          <a:stretch/>
        </p:blipFill>
        <p:spPr>
          <a:xfrm>
            <a:off x="7077600" y="124344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9" name="Text 46"/>
          <p:cNvSpPr/>
          <p:nvPr/>
        </p:nvSpPr>
        <p:spPr>
          <a:xfrm>
            <a:off x="7461360" y="1188720"/>
            <a:ext cx="1499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 Models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47"/>
          <p:cNvSpPr/>
          <p:nvPr/>
        </p:nvSpPr>
        <p:spPr>
          <a:xfrm>
            <a:off x="7077240" y="1645920"/>
            <a:ext cx="1847160" cy="360"/>
          </a:xfrm>
          <a:prstGeom prst="line">
            <a:avLst/>
          </a:prstGeom>
          <a:ln w="9525">
            <a:solidFill>
              <a:srgbClr val="9D4ED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1" name="Image 18" descr="preencoded.png"/>
          <p:cNvPicPr/>
          <p:nvPr/>
        </p:nvPicPr>
        <p:blipFill>
          <a:blip r:embed="rId19"/>
          <a:stretch/>
        </p:blipFill>
        <p:spPr>
          <a:xfrm>
            <a:off x="7095600" y="17557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2" name="Text 48"/>
          <p:cNvSpPr/>
          <p:nvPr/>
        </p:nvSpPr>
        <p:spPr>
          <a:xfrm>
            <a:off x="7351920" y="17190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ObservablePatient.java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49"/>
          <p:cNvSpPr/>
          <p:nvPr/>
        </p:nvSpPr>
        <p:spPr>
          <a:xfrm>
            <a:off x="7351920" y="197496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JavaFX TableView observable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4" name="Image 19" descr="preencoded.png"/>
          <p:cNvPicPr/>
          <p:nvPr/>
        </p:nvPicPr>
        <p:blipFill>
          <a:blip r:embed="rId20"/>
          <a:stretch/>
        </p:blipFill>
        <p:spPr>
          <a:xfrm>
            <a:off x="7095600" y="24141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5" name="Text 50"/>
          <p:cNvSpPr/>
          <p:nvPr/>
        </p:nvSpPr>
        <p:spPr>
          <a:xfrm>
            <a:off x="7351920" y="237744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ObservableRoom.java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51"/>
          <p:cNvSpPr/>
          <p:nvPr/>
        </p:nvSpPr>
        <p:spPr>
          <a:xfrm>
            <a:off x="7351920" y="263340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JavaFX TableView for rooms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7" name="Image 20" descr="preencoded.png"/>
          <p:cNvPicPr/>
          <p:nvPr/>
        </p:nvPicPr>
        <p:blipFill>
          <a:blip r:embed="rId21"/>
          <a:stretch/>
        </p:blipFill>
        <p:spPr>
          <a:xfrm>
            <a:off x="7095600" y="307224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Text 52"/>
          <p:cNvSpPr/>
          <p:nvPr/>
        </p:nvSpPr>
        <p:spPr>
          <a:xfrm>
            <a:off x="7351920" y="303588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ObservableBill.java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3"/>
          <p:cNvSpPr/>
          <p:nvPr/>
        </p:nvSpPr>
        <p:spPr>
          <a:xfrm>
            <a:off x="7351920" y="329184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JavaFX TableView for billing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0" name="Image 21" descr="preencoded.png"/>
          <p:cNvPicPr/>
          <p:nvPr/>
        </p:nvPicPr>
        <p:blipFill>
          <a:blip r:embed="rId22"/>
          <a:stretch/>
        </p:blipFill>
        <p:spPr>
          <a:xfrm>
            <a:off x="7095600" y="37306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1" name="Text 54"/>
          <p:cNvSpPr/>
          <p:nvPr/>
        </p:nvSpPr>
        <p:spPr>
          <a:xfrm>
            <a:off x="7351920" y="369432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ObservableMedicine.java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55"/>
          <p:cNvSpPr/>
          <p:nvPr/>
        </p:nvSpPr>
        <p:spPr>
          <a:xfrm>
            <a:off x="7351920" y="395028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JavaFX TableView for medicines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3" name="Image 22" descr="preencoded.png"/>
          <p:cNvPicPr/>
          <p:nvPr/>
        </p:nvPicPr>
        <p:blipFill>
          <a:blip r:embed="rId23"/>
          <a:stretch/>
        </p:blipFill>
        <p:spPr>
          <a:xfrm>
            <a:off x="7095600" y="43891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4" name="Text 56"/>
          <p:cNvSpPr/>
          <p:nvPr/>
        </p:nvSpPr>
        <p:spPr>
          <a:xfrm>
            <a:off x="7351920" y="4352400"/>
            <a:ext cx="1590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ObservableLog.java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57"/>
          <p:cNvSpPr/>
          <p:nvPr/>
        </p:nvSpPr>
        <p:spPr>
          <a:xfrm>
            <a:off x="7351920" y="4608720"/>
            <a:ext cx="15904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JavaFX TableView for activity logs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FF2D78"/>
                </a:solidFill>
                <a:effectLst/>
                <a:uFillTx/>
                <a:latin typeface="Calibri"/>
              </a:rPr>
              <a:t>CREDENTIALS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2"/>
          <p:cNvSpPr/>
          <p:nvPr/>
        </p:nvSpPr>
        <p:spPr>
          <a:xfrm>
            <a:off x="457200" y="384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Default Login Credentials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4"/>
          <p:cNvSpPr/>
          <p:nvPr/>
        </p:nvSpPr>
        <p:spPr>
          <a:xfrm>
            <a:off x="390240" y="1064160"/>
            <a:ext cx="8375040" cy="456120"/>
          </a:xfrm>
          <a:prstGeom prst="roundRect">
            <a:avLst>
              <a:gd name="adj" fmla="val 17241"/>
            </a:avLst>
          </a:prstGeom>
          <a:solidFill>
            <a:srgbClr val="0F1A2E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1" name="Image 0" descr="preencoded.png"/>
          <p:cNvPicPr/>
          <p:nvPr/>
        </p:nvPicPr>
        <p:blipFill>
          <a:blip r:embed="rId1"/>
          <a:stretch/>
        </p:blipFill>
        <p:spPr>
          <a:xfrm>
            <a:off x="548640" y="10818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Text 5"/>
          <p:cNvSpPr/>
          <p:nvPr/>
        </p:nvSpPr>
        <p:spPr>
          <a:xfrm>
            <a:off x="969120" y="1027080"/>
            <a:ext cx="766188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⚠  These are default credentials for testing. Change passwords after first login in production.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6"/>
          <p:cNvSpPr/>
          <p:nvPr/>
        </p:nvSpPr>
        <p:spPr>
          <a:xfrm>
            <a:off x="378000" y="1600200"/>
            <a:ext cx="2724120" cy="346464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7"/>
          <p:cNvSpPr/>
          <p:nvPr/>
        </p:nvSpPr>
        <p:spPr>
          <a:xfrm>
            <a:off x="384120" y="1883520"/>
            <a:ext cx="2724120" cy="54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5" name="Image 1" descr="preencoded.png"/>
          <p:cNvPicPr/>
          <p:nvPr/>
        </p:nvPicPr>
        <p:blipFill>
          <a:blip r:embed="rId2"/>
          <a:stretch/>
        </p:blipFill>
        <p:spPr>
          <a:xfrm>
            <a:off x="1499760" y="181332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Text 8"/>
          <p:cNvSpPr/>
          <p:nvPr/>
        </p:nvSpPr>
        <p:spPr>
          <a:xfrm>
            <a:off x="384120" y="2344320"/>
            <a:ext cx="2724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CLERK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9"/>
          <p:cNvSpPr/>
          <p:nvPr/>
        </p:nvSpPr>
        <p:spPr>
          <a:xfrm>
            <a:off x="585360" y="2692800"/>
            <a:ext cx="1078200" cy="40176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0"/>
          <p:cNvSpPr/>
          <p:nvPr/>
        </p:nvSpPr>
        <p:spPr>
          <a:xfrm>
            <a:off x="585360" y="2656800"/>
            <a:ext cx="1078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FF9F"/>
                </a:solidFill>
                <a:effectLst/>
                <a:uFillTx/>
                <a:latin typeface="Courier New"/>
                <a:ea typeface="Courier New"/>
              </a:rPr>
              <a:t>👤 clerk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1"/>
          <p:cNvSpPr/>
          <p:nvPr/>
        </p:nvSpPr>
        <p:spPr>
          <a:xfrm>
            <a:off x="1846440" y="2692800"/>
            <a:ext cx="932400" cy="43524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2"/>
          <p:cNvSpPr/>
          <p:nvPr/>
        </p:nvSpPr>
        <p:spPr>
          <a:xfrm>
            <a:off x="1810440" y="2800800"/>
            <a:ext cx="93240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D4EDD"/>
                </a:solidFill>
                <a:effectLst/>
                <a:uFillTx/>
                <a:latin typeface="Courier New"/>
                <a:ea typeface="Courier New"/>
              </a:rPr>
              <a:t>🔑 123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3"/>
          <p:cNvSpPr/>
          <p:nvPr/>
        </p:nvSpPr>
        <p:spPr>
          <a:xfrm>
            <a:off x="566640" y="3204720"/>
            <a:ext cx="2359440" cy="360"/>
          </a:xfrm>
          <a:prstGeom prst="line">
            <a:avLst/>
          </a:prstGeom>
          <a:ln w="9525">
            <a:solidFill>
              <a:srgbClr val="00FF9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4"/>
          <p:cNvSpPr/>
          <p:nvPr/>
        </p:nvSpPr>
        <p:spPr>
          <a:xfrm>
            <a:off x="384120" y="3223800"/>
            <a:ext cx="2724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8899AA"/>
                </a:solidFill>
                <a:effectLst/>
                <a:uFillTx/>
                <a:latin typeface="Calibri"/>
              </a:rPr>
              <a:t>ACCESS PERMISSIONS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6"/>
          <p:cNvSpPr/>
          <p:nvPr/>
        </p:nvSpPr>
        <p:spPr>
          <a:xfrm>
            <a:off x="804600" y="339012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Patient Management (Add/Edit/Delete/Admit/Discharge)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18"/>
          <p:cNvSpPr/>
          <p:nvPr/>
        </p:nvSpPr>
        <p:spPr>
          <a:xfrm>
            <a:off x="804600" y="372168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Room Management (Status, Release)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0"/>
          <p:cNvSpPr/>
          <p:nvPr/>
        </p:nvSpPr>
        <p:spPr>
          <a:xfrm>
            <a:off x="804600" y="398124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User Management (Add/Edit/Lock/Unlock)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22"/>
          <p:cNvSpPr/>
          <p:nvPr/>
        </p:nvSpPr>
        <p:spPr>
          <a:xfrm>
            <a:off x="840600" y="427680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Billing (Generate, PDF, Paid/Unpaid)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23"/>
          <p:cNvSpPr/>
          <p:nvPr/>
        </p:nvSpPr>
        <p:spPr>
          <a:xfrm>
            <a:off x="655920" y="348408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4"/>
          <p:cNvSpPr/>
          <p:nvPr/>
        </p:nvSpPr>
        <p:spPr>
          <a:xfrm>
            <a:off x="804600" y="446400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Reports (PDF &amp; CSV - All 4 Types)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6"/>
          <p:cNvSpPr/>
          <p:nvPr/>
        </p:nvSpPr>
        <p:spPr>
          <a:xfrm>
            <a:off x="795960" y="465588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Activity Logs (View &amp; Clear)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7"/>
          <p:cNvSpPr/>
          <p:nvPr/>
        </p:nvSpPr>
        <p:spPr>
          <a:xfrm>
            <a:off x="3309840" y="1615680"/>
            <a:ext cx="2724120" cy="342108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28"/>
          <p:cNvSpPr/>
          <p:nvPr/>
        </p:nvSpPr>
        <p:spPr>
          <a:xfrm>
            <a:off x="3291840" y="1883520"/>
            <a:ext cx="2724120" cy="54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2" name="Image 2" descr="preencoded.png"/>
          <p:cNvPicPr/>
          <p:nvPr/>
        </p:nvPicPr>
        <p:blipFill>
          <a:blip r:embed="rId3"/>
          <a:stretch/>
        </p:blipFill>
        <p:spPr>
          <a:xfrm>
            <a:off x="4407480" y="184932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3" name="Text 29"/>
          <p:cNvSpPr/>
          <p:nvPr/>
        </p:nvSpPr>
        <p:spPr>
          <a:xfrm>
            <a:off x="3256920" y="2359080"/>
            <a:ext cx="2724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PHYSICIAN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30"/>
          <p:cNvSpPr/>
          <p:nvPr/>
        </p:nvSpPr>
        <p:spPr>
          <a:xfrm>
            <a:off x="3503520" y="2664000"/>
            <a:ext cx="1078200" cy="40176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31"/>
          <p:cNvSpPr/>
          <p:nvPr/>
        </p:nvSpPr>
        <p:spPr>
          <a:xfrm>
            <a:off x="3521520" y="2656800"/>
            <a:ext cx="1077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B700"/>
                </a:solidFill>
                <a:effectLst/>
                <a:uFillTx/>
                <a:latin typeface="Courier New"/>
                <a:ea typeface="Courier New"/>
              </a:rPr>
              <a:t>👤 physician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32"/>
          <p:cNvSpPr/>
          <p:nvPr/>
        </p:nvSpPr>
        <p:spPr>
          <a:xfrm>
            <a:off x="4709520" y="2730960"/>
            <a:ext cx="1078200" cy="34308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33"/>
          <p:cNvSpPr/>
          <p:nvPr/>
        </p:nvSpPr>
        <p:spPr>
          <a:xfrm>
            <a:off x="4700880" y="2703960"/>
            <a:ext cx="1078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D4EDD"/>
                </a:solidFill>
                <a:effectLst/>
                <a:uFillTx/>
                <a:latin typeface="Courier New"/>
                <a:ea typeface="Courier New"/>
              </a:rPr>
              <a:t>🔑 456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4"/>
          <p:cNvSpPr/>
          <p:nvPr/>
        </p:nvSpPr>
        <p:spPr>
          <a:xfrm>
            <a:off x="3483720" y="3174840"/>
            <a:ext cx="2359080" cy="360"/>
          </a:xfrm>
          <a:prstGeom prst="line">
            <a:avLst/>
          </a:prstGeom>
          <a:ln w="9525">
            <a:solidFill>
              <a:srgbClr val="FFB70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35"/>
          <p:cNvSpPr/>
          <p:nvPr/>
        </p:nvSpPr>
        <p:spPr>
          <a:xfrm>
            <a:off x="3237120" y="3219120"/>
            <a:ext cx="2724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8899AA"/>
                </a:solidFill>
                <a:effectLst/>
                <a:uFillTx/>
                <a:latin typeface="Calibri"/>
              </a:rPr>
              <a:t>ACCESS PERMISSIONS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36"/>
          <p:cNvSpPr/>
          <p:nvPr/>
        </p:nvSpPr>
        <p:spPr>
          <a:xfrm>
            <a:off x="3562920" y="359028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37"/>
          <p:cNvSpPr/>
          <p:nvPr/>
        </p:nvSpPr>
        <p:spPr>
          <a:xfrm>
            <a:off x="3690000" y="339660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&amp; Search All Patients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39"/>
          <p:cNvSpPr/>
          <p:nvPr/>
        </p:nvSpPr>
        <p:spPr>
          <a:xfrm>
            <a:off x="3666960" y="367632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Medical Records (Diagnosis, Medication)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41"/>
          <p:cNvSpPr/>
          <p:nvPr/>
        </p:nvSpPr>
        <p:spPr>
          <a:xfrm>
            <a:off x="3658680" y="390456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Medicine Dispensary (Add/Edit/Delete)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43"/>
          <p:cNvSpPr/>
          <p:nvPr/>
        </p:nvSpPr>
        <p:spPr>
          <a:xfrm>
            <a:off x="3675240" y="415800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Prescribe Medicine + Dosage to Patients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45"/>
          <p:cNvSpPr/>
          <p:nvPr/>
        </p:nvSpPr>
        <p:spPr>
          <a:xfrm>
            <a:off x="3675240" y="4401720"/>
            <a:ext cx="21754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Generate &amp; Export Bills as PDF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47"/>
          <p:cNvSpPr/>
          <p:nvPr/>
        </p:nvSpPr>
        <p:spPr>
          <a:xfrm>
            <a:off x="3663360" y="4648320"/>
            <a:ext cx="22201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Reports (PDF &amp; CSV) + Activity Logs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48"/>
          <p:cNvSpPr/>
          <p:nvPr/>
        </p:nvSpPr>
        <p:spPr>
          <a:xfrm>
            <a:off x="6148800" y="1673280"/>
            <a:ext cx="2724120" cy="3390120"/>
          </a:xfrm>
          <a:prstGeom prst="roundRect">
            <a:avLst>
              <a:gd name="adj" fmla="val 4698"/>
            </a:avLst>
          </a:prstGeom>
          <a:solidFill>
            <a:srgbClr val="0A1020"/>
          </a:solidFill>
          <a:ln w="2286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49"/>
          <p:cNvSpPr/>
          <p:nvPr/>
        </p:nvSpPr>
        <p:spPr>
          <a:xfrm>
            <a:off x="6199560" y="1883520"/>
            <a:ext cx="2724120" cy="54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9" name="Image 3" descr="preencoded.png"/>
          <p:cNvPicPr/>
          <p:nvPr/>
        </p:nvPicPr>
        <p:blipFill>
          <a:blip r:embed="rId4"/>
          <a:stretch/>
        </p:blipFill>
        <p:spPr>
          <a:xfrm>
            <a:off x="7315200" y="1813320"/>
            <a:ext cx="51120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Text 50"/>
          <p:cNvSpPr/>
          <p:nvPr/>
        </p:nvSpPr>
        <p:spPr>
          <a:xfrm>
            <a:off x="6199560" y="2272320"/>
            <a:ext cx="27241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NURSE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51"/>
          <p:cNvSpPr/>
          <p:nvPr/>
        </p:nvSpPr>
        <p:spPr>
          <a:xfrm>
            <a:off x="6464520" y="2750760"/>
            <a:ext cx="1078200" cy="40176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52"/>
          <p:cNvSpPr/>
          <p:nvPr/>
        </p:nvSpPr>
        <p:spPr>
          <a:xfrm>
            <a:off x="6464520" y="2739600"/>
            <a:ext cx="1078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2D78"/>
                </a:solidFill>
                <a:effectLst/>
                <a:uFillTx/>
                <a:latin typeface="Courier New"/>
                <a:ea typeface="Courier New"/>
              </a:rPr>
              <a:t>👤 nurse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53"/>
          <p:cNvSpPr/>
          <p:nvPr/>
        </p:nvSpPr>
        <p:spPr>
          <a:xfrm>
            <a:off x="7626240" y="2761200"/>
            <a:ext cx="1078200" cy="367200"/>
          </a:xfrm>
          <a:prstGeom prst="roundRect">
            <a:avLst>
              <a:gd name="adj" fmla="val 18182"/>
            </a:avLst>
          </a:prstGeom>
          <a:solidFill>
            <a:srgbClr val="060B14"/>
          </a:solidFill>
          <a:ln w="1270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54"/>
          <p:cNvSpPr/>
          <p:nvPr/>
        </p:nvSpPr>
        <p:spPr>
          <a:xfrm>
            <a:off x="7626240" y="2784240"/>
            <a:ext cx="1078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D4EDD"/>
                </a:solidFill>
                <a:effectLst/>
                <a:uFillTx/>
                <a:latin typeface="Courier New"/>
                <a:ea typeface="Courier New"/>
              </a:rPr>
              <a:t>🔑 789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55"/>
          <p:cNvSpPr/>
          <p:nvPr/>
        </p:nvSpPr>
        <p:spPr>
          <a:xfrm>
            <a:off x="6382440" y="3248640"/>
            <a:ext cx="2359080" cy="360"/>
          </a:xfrm>
          <a:prstGeom prst="line">
            <a:avLst/>
          </a:prstGeom>
          <a:ln w="9525">
            <a:solidFill>
              <a:srgbClr val="FF2D7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56"/>
          <p:cNvSpPr/>
          <p:nvPr/>
        </p:nvSpPr>
        <p:spPr>
          <a:xfrm>
            <a:off x="6199560" y="3282480"/>
            <a:ext cx="2724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8899AA"/>
                </a:solidFill>
                <a:effectLst/>
                <a:uFillTx/>
                <a:latin typeface="Calibri"/>
              </a:rPr>
              <a:t>ACCESS PERMISSIONS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57"/>
          <p:cNvSpPr/>
          <p:nvPr/>
        </p:nvSpPr>
        <p:spPr>
          <a:xfrm>
            <a:off x="6531480" y="489564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58"/>
          <p:cNvSpPr/>
          <p:nvPr/>
        </p:nvSpPr>
        <p:spPr>
          <a:xfrm>
            <a:off x="6697440" y="353556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&amp; Search All Patients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60"/>
          <p:cNvSpPr/>
          <p:nvPr/>
        </p:nvSpPr>
        <p:spPr>
          <a:xfrm>
            <a:off x="6697440" y="382068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Add Daily Progress Notes with Date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62"/>
          <p:cNvSpPr/>
          <p:nvPr/>
        </p:nvSpPr>
        <p:spPr>
          <a:xfrm>
            <a:off x="6697440" y="408528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Complete Progress History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64"/>
          <p:cNvSpPr/>
          <p:nvPr/>
        </p:nvSpPr>
        <p:spPr>
          <a:xfrm>
            <a:off x="6708240" y="435672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View All Patient Prescriptions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66"/>
          <p:cNvSpPr/>
          <p:nvPr/>
        </p:nvSpPr>
        <p:spPr>
          <a:xfrm>
            <a:off x="6738840" y="453708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Change Password (with Strength Check)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68"/>
          <p:cNvSpPr/>
          <p:nvPr/>
        </p:nvSpPr>
        <p:spPr>
          <a:xfrm>
            <a:off x="6756840" y="4723920"/>
            <a:ext cx="2175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Patient Portal — Full Details View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3"/>
          <p:cNvSpPr/>
          <p:nvPr/>
        </p:nvSpPr>
        <p:spPr>
          <a:xfrm>
            <a:off x="661680" y="386748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23"/>
          <p:cNvSpPr/>
          <p:nvPr/>
        </p:nvSpPr>
        <p:spPr>
          <a:xfrm>
            <a:off x="668160" y="413352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23"/>
          <p:cNvSpPr/>
          <p:nvPr/>
        </p:nvSpPr>
        <p:spPr>
          <a:xfrm>
            <a:off x="661320" y="440460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23"/>
          <p:cNvSpPr/>
          <p:nvPr/>
        </p:nvSpPr>
        <p:spPr>
          <a:xfrm>
            <a:off x="667440" y="482976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23"/>
          <p:cNvSpPr/>
          <p:nvPr/>
        </p:nvSpPr>
        <p:spPr>
          <a:xfrm>
            <a:off x="667440" y="4622040"/>
            <a:ext cx="126000" cy="126000"/>
          </a:xfrm>
          <a:prstGeom prst="ellipse">
            <a:avLst/>
          </a:prstGeom>
          <a:solidFill>
            <a:srgbClr val="00FF9F"/>
          </a:solidFill>
          <a:ln w="12700">
            <a:solidFill>
              <a:srgbClr val="00FF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000" tIns="44640" rIns="63000" bIns="44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36"/>
          <p:cNvSpPr/>
          <p:nvPr/>
        </p:nvSpPr>
        <p:spPr>
          <a:xfrm>
            <a:off x="3539160" y="404460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36"/>
          <p:cNvSpPr/>
          <p:nvPr/>
        </p:nvSpPr>
        <p:spPr>
          <a:xfrm>
            <a:off x="3567600" y="484560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36"/>
          <p:cNvSpPr/>
          <p:nvPr/>
        </p:nvSpPr>
        <p:spPr>
          <a:xfrm>
            <a:off x="3560760" y="457848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36"/>
          <p:cNvSpPr/>
          <p:nvPr/>
        </p:nvSpPr>
        <p:spPr>
          <a:xfrm>
            <a:off x="3546720" y="431676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57"/>
          <p:cNvSpPr/>
          <p:nvPr/>
        </p:nvSpPr>
        <p:spPr>
          <a:xfrm>
            <a:off x="6527880" y="396072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57"/>
          <p:cNvSpPr/>
          <p:nvPr/>
        </p:nvSpPr>
        <p:spPr>
          <a:xfrm>
            <a:off x="6526440" y="422748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57"/>
          <p:cNvSpPr/>
          <p:nvPr/>
        </p:nvSpPr>
        <p:spPr>
          <a:xfrm>
            <a:off x="6528600" y="448740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57"/>
          <p:cNvSpPr/>
          <p:nvPr/>
        </p:nvSpPr>
        <p:spPr>
          <a:xfrm>
            <a:off x="6534720" y="470016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57"/>
          <p:cNvSpPr/>
          <p:nvPr/>
        </p:nvSpPr>
        <p:spPr>
          <a:xfrm>
            <a:off x="6526440" y="3710160"/>
            <a:ext cx="123840" cy="1238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920" tIns="43920" rIns="61920" bIns="43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36"/>
          <p:cNvSpPr/>
          <p:nvPr/>
        </p:nvSpPr>
        <p:spPr>
          <a:xfrm>
            <a:off x="3548520" y="3794040"/>
            <a:ext cx="94680" cy="94680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520" tIns="33480" rIns="47520" bIns="334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1"/>
          <p:cNvSpPr/>
          <p:nvPr/>
        </p:nvSpPr>
        <p:spPr>
          <a:xfrm>
            <a:off x="457200" y="1645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400" strike="noStrike">
                <a:solidFill>
                  <a:srgbClr val="00FFD4"/>
                </a:solidFill>
                <a:effectLst/>
                <a:uFillTx/>
                <a:latin typeface="Calibri"/>
              </a:rPr>
              <a:t>ACHIEVEMENTS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2"/>
          <p:cNvSpPr/>
          <p:nvPr/>
        </p:nvSpPr>
        <p:spPr>
          <a:xfrm>
            <a:off x="457200" y="27612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Key Achievements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3"/>
          <p:cNvSpPr/>
          <p:nvPr/>
        </p:nvSpPr>
        <p:spPr>
          <a:xfrm>
            <a:off x="457200" y="1005840"/>
            <a:ext cx="164520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4"/>
          <p:cNvSpPr/>
          <p:nvPr/>
        </p:nvSpPr>
        <p:spPr>
          <a:xfrm>
            <a:off x="384120" y="990360"/>
            <a:ext cx="4205520" cy="106668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5"/>
          <p:cNvSpPr/>
          <p:nvPr/>
        </p:nvSpPr>
        <p:spPr>
          <a:xfrm>
            <a:off x="384120" y="1098360"/>
            <a:ext cx="4205520" cy="45000"/>
          </a:xfrm>
          <a:prstGeom prst="rect">
            <a:avLst/>
          </a:prstGeom>
          <a:noFill/>
          <a:ln w="12700">
            <a:solidFill>
              <a:srgbClr val="00B4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5" name="Image 0" descr="preencoded.png"/>
          <p:cNvPicPr/>
          <p:nvPr/>
        </p:nvPicPr>
        <p:blipFill>
          <a:blip r:embed="rId1"/>
          <a:stretch/>
        </p:blipFill>
        <p:spPr>
          <a:xfrm>
            <a:off x="529200" y="1249920"/>
            <a:ext cx="52956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6" name="Text 6"/>
          <p:cNvSpPr/>
          <p:nvPr/>
        </p:nvSpPr>
        <p:spPr>
          <a:xfrm>
            <a:off x="1097280" y="108252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Full OOP Hierarchy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7"/>
          <p:cNvSpPr/>
          <p:nvPr/>
        </p:nvSpPr>
        <p:spPr>
          <a:xfrm>
            <a:off x="1097280" y="126936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Abstract User → Clerk, Physician, Nurse — all 4 OOP pillars throughout the entire codebase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8"/>
          <p:cNvSpPr/>
          <p:nvPr/>
        </p:nvSpPr>
        <p:spPr>
          <a:xfrm>
            <a:off x="4791600" y="990360"/>
            <a:ext cx="4205520" cy="110268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9"/>
          <p:cNvSpPr/>
          <p:nvPr/>
        </p:nvSpPr>
        <p:spPr>
          <a:xfrm>
            <a:off x="4791600" y="1170360"/>
            <a:ext cx="4205520" cy="45000"/>
          </a:xfrm>
          <a:prstGeom prst="rect">
            <a:avLst/>
          </a:prstGeom>
          <a:noFill/>
          <a:ln w="12700">
            <a:solidFill>
              <a:srgbClr val="FF2D7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0" name="Image 1" descr="preencoded.png"/>
          <p:cNvPicPr/>
          <p:nvPr/>
        </p:nvPicPr>
        <p:blipFill>
          <a:blip r:embed="rId2"/>
          <a:stretch/>
        </p:blipFill>
        <p:spPr>
          <a:xfrm>
            <a:off x="4919400" y="130464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1" name="Text 10"/>
          <p:cNvSpPr/>
          <p:nvPr/>
        </p:nvSpPr>
        <p:spPr>
          <a:xfrm>
            <a:off x="5504760" y="108252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Enterprise Security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1"/>
          <p:cNvSpPr/>
          <p:nvPr/>
        </p:nvSpPr>
        <p:spPr>
          <a:xfrm>
            <a:off x="5504760" y="123336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Email 2FA, login lock, 15-min session, password strength &amp; history, complete audit trail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12"/>
          <p:cNvSpPr/>
          <p:nvPr/>
        </p:nvSpPr>
        <p:spPr>
          <a:xfrm>
            <a:off x="366120" y="2286000"/>
            <a:ext cx="4205520" cy="114264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3"/>
          <p:cNvSpPr/>
          <p:nvPr/>
        </p:nvSpPr>
        <p:spPr>
          <a:xfrm>
            <a:off x="384120" y="2907720"/>
            <a:ext cx="4205520" cy="45000"/>
          </a:xfrm>
          <a:prstGeom prst="rect">
            <a:avLst/>
          </a:prstGeom>
          <a:noFill/>
          <a:ln w="12700">
            <a:solidFill>
              <a:srgbClr val="00FF9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5" name="Image 2" descr="preencoded.png"/>
          <p:cNvPicPr/>
          <p:nvPr/>
        </p:nvPicPr>
        <p:blipFill>
          <a:blip r:embed="rId3"/>
          <a:stretch/>
        </p:blipFill>
        <p:spPr>
          <a:xfrm>
            <a:off x="511920" y="2574000"/>
            <a:ext cx="630720" cy="63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Text 14"/>
          <p:cNvSpPr/>
          <p:nvPr/>
        </p:nvSpPr>
        <p:spPr>
          <a:xfrm>
            <a:off x="1169280" y="242388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3-Role Access Control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15"/>
          <p:cNvSpPr/>
          <p:nvPr/>
        </p:nvSpPr>
        <p:spPr>
          <a:xfrm>
            <a:off x="1155600" y="257220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Dedicated dashboards with least-privilege access — no cross-role permission violations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16"/>
          <p:cNvSpPr/>
          <p:nvPr/>
        </p:nvSpPr>
        <p:spPr>
          <a:xfrm>
            <a:off x="4806720" y="2286000"/>
            <a:ext cx="4205520" cy="114264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7"/>
          <p:cNvSpPr/>
          <p:nvPr/>
        </p:nvSpPr>
        <p:spPr>
          <a:xfrm>
            <a:off x="4791600" y="2907720"/>
            <a:ext cx="4205520" cy="45000"/>
          </a:xfrm>
          <a:prstGeom prst="rect">
            <a:avLst/>
          </a:prstGeom>
          <a:noFill/>
          <a:ln w="12700">
            <a:solidFill>
              <a:srgbClr val="9D4E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0" name="Image 3" descr="preencoded.png"/>
          <p:cNvPicPr/>
          <p:nvPr/>
        </p:nvPicPr>
        <p:blipFill>
          <a:blip r:embed="rId4"/>
          <a:stretch/>
        </p:blipFill>
        <p:spPr>
          <a:xfrm>
            <a:off x="4919400" y="253800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1" name="Text 18"/>
          <p:cNvSpPr/>
          <p:nvPr/>
        </p:nvSpPr>
        <p:spPr>
          <a:xfrm>
            <a:off x="5432760" y="238788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10-Table Relational DB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19"/>
          <p:cNvSpPr/>
          <p:nvPr/>
        </p:nvSpPr>
        <p:spPr>
          <a:xfrm>
            <a:off x="5486400" y="255708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FK constraints, ON DELETE CASCADE, Singleton JDBC, full CRUD with real-time search &amp; filter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20"/>
          <p:cNvSpPr/>
          <p:nvPr/>
        </p:nvSpPr>
        <p:spPr>
          <a:xfrm>
            <a:off x="384120" y="3643200"/>
            <a:ext cx="4205520" cy="111888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21"/>
          <p:cNvSpPr/>
          <p:nvPr/>
        </p:nvSpPr>
        <p:spPr>
          <a:xfrm>
            <a:off x="384120" y="4645080"/>
            <a:ext cx="4205520" cy="45000"/>
          </a:xfrm>
          <a:prstGeom prst="rect">
            <a:avLst/>
          </a:prstGeom>
          <a:noFill/>
          <a:ln w="12700">
            <a:solidFill>
              <a:srgbClr val="FFB7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5" name="Image 4" descr="preencoded.png"/>
          <p:cNvPicPr/>
          <p:nvPr/>
        </p:nvPicPr>
        <p:blipFill>
          <a:blip r:embed="rId5"/>
          <a:stretch/>
        </p:blipFill>
        <p:spPr>
          <a:xfrm>
            <a:off x="595800" y="392220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6" name="Text 22"/>
          <p:cNvSpPr/>
          <p:nvPr/>
        </p:nvSpPr>
        <p:spPr>
          <a:xfrm>
            <a:off x="1097280" y="372924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PDF Billing &amp; 4 Reports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23"/>
          <p:cNvSpPr/>
          <p:nvPr/>
        </p:nvSpPr>
        <p:spPr>
          <a:xfrm>
            <a:off x="1097280" y="384408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iText PDF invoices + 4 report types (Patient, Prescription, Room, Logs) as PDF &amp; CSV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24"/>
          <p:cNvSpPr/>
          <p:nvPr/>
        </p:nvSpPr>
        <p:spPr>
          <a:xfrm>
            <a:off x="4800600" y="3657600"/>
            <a:ext cx="4205520" cy="1104480"/>
          </a:xfrm>
          <a:prstGeom prst="roundRect">
            <a:avLst>
              <a:gd name="adj" fmla="val 8140"/>
            </a:avLst>
          </a:prstGeom>
          <a:solidFill>
            <a:srgbClr val="0A1020"/>
          </a:solidFill>
          <a:ln w="1905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25"/>
          <p:cNvSpPr/>
          <p:nvPr/>
        </p:nvSpPr>
        <p:spPr>
          <a:xfrm>
            <a:off x="4791600" y="4645080"/>
            <a:ext cx="4205520" cy="45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0" name="Image 5" descr="preencoded.png"/>
          <p:cNvPicPr/>
          <p:nvPr/>
        </p:nvPicPr>
        <p:blipFill>
          <a:blip r:embed="rId6"/>
          <a:stretch/>
        </p:blipFill>
        <p:spPr>
          <a:xfrm>
            <a:off x="4883400" y="3951360"/>
            <a:ext cx="474840" cy="4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1" name="Text 26"/>
          <p:cNvSpPr/>
          <p:nvPr/>
        </p:nvSpPr>
        <p:spPr>
          <a:xfrm>
            <a:off x="5432760" y="3765240"/>
            <a:ext cx="3364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Clean 5-Layer Architecture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27"/>
          <p:cNvSpPr/>
          <p:nvPr/>
        </p:nvSpPr>
        <p:spPr>
          <a:xfrm>
            <a:off x="5466240" y="3866760"/>
            <a:ext cx="336420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Presentation→Controller→Security→Data→Model — zero layer-skipping dependencies enforced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0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noFill/>
          <a:ln w="12700">
            <a:solidFill>
              <a:srgbClr val="060B1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1"/>
          <p:cNvSpPr/>
          <p:nvPr/>
        </p:nvSpPr>
        <p:spPr>
          <a:xfrm>
            <a:off x="-1864800" y="-1828800"/>
            <a:ext cx="5485680" cy="5485680"/>
          </a:xfrm>
          <a:prstGeom prst="ellipse">
            <a:avLst/>
          </a:prstGeom>
          <a:solidFill>
            <a:srgbClr val="00FFD4">
              <a:alpha val="7000"/>
            </a:srgbClr>
          </a:solidFill>
          <a:ln w="12700">
            <a:solidFill>
              <a:srgbClr val="00FFD4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2"/>
          <p:cNvSpPr/>
          <p:nvPr/>
        </p:nvSpPr>
        <p:spPr>
          <a:xfrm>
            <a:off x="5943600" y="3200400"/>
            <a:ext cx="4571280" cy="4571280"/>
          </a:xfrm>
          <a:prstGeom prst="ellipse">
            <a:avLst/>
          </a:prstGeom>
          <a:solidFill>
            <a:srgbClr val="FF2D78">
              <a:alpha val="7000"/>
            </a:srgbClr>
          </a:solidFill>
          <a:ln w="12700">
            <a:solidFill>
              <a:srgbClr val="FF2D78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3"/>
          <p:cNvSpPr/>
          <p:nvPr/>
        </p:nvSpPr>
        <p:spPr>
          <a:xfrm>
            <a:off x="7543800" y="-685440"/>
            <a:ext cx="2742480" cy="2742480"/>
          </a:xfrm>
          <a:prstGeom prst="ellipse">
            <a:avLst/>
          </a:prstGeom>
          <a:solidFill>
            <a:srgbClr val="9D4EDD">
              <a:alpha val="10000"/>
            </a:srgbClr>
          </a:solidFill>
          <a:ln w="12700">
            <a:solidFill>
              <a:srgbClr val="9D4EDD">
                <a:alpha val="11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4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8" name="Image 0" descr="preencoded.png"/>
          <p:cNvPicPr/>
          <p:nvPr/>
        </p:nvPicPr>
        <p:blipFill>
          <a:blip r:embed="rId1"/>
          <a:stretch/>
        </p:blipFill>
        <p:spPr>
          <a:xfrm>
            <a:off x="4343400" y="534960"/>
            <a:ext cx="1005120" cy="10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Text 5"/>
          <p:cNvSpPr/>
          <p:nvPr/>
        </p:nvSpPr>
        <p:spPr>
          <a:xfrm>
            <a:off x="-196200" y="298440"/>
            <a:ext cx="2931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00FFD4"/>
                </a:solidFill>
                <a:effectLst/>
                <a:uFillTx/>
                <a:latin typeface="Calibri"/>
              </a:rPr>
              <a:t>CONCLUSION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6"/>
          <p:cNvSpPr/>
          <p:nvPr/>
        </p:nvSpPr>
        <p:spPr>
          <a:xfrm>
            <a:off x="457200" y="1554480"/>
            <a:ext cx="8686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You!</a:t>
            </a:r>
            <a:endParaRPr lang="en-US" sz="6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7"/>
          <p:cNvSpPr/>
          <p:nvPr/>
        </p:nvSpPr>
        <p:spPr>
          <a:xfrm>
            <a:off x="1371600" y="2633400"/>
            <a:ext cx="6400080" cy="36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8"/>
          <p:cNvSpPr/>
          <p:nvPr/>
        </p:nvSpPr>
        <p:spPr>
          <a:xfrm>
            <a:off x="822960" y="2779920"/>
            <a:ext cx="7497360" cy="867960"/>
          </a:xfrm>
          <a:prstGeom prst="roundRect">
            <a:avLst>
              <a:gd name="adj" fmla="val 12632"/>
            </a:avLst>
          </a:prstGeom>
          <a:solidFill>
            <a:srgbClr val="0F1A2E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9"/>
          <p:cNvSpPr/>
          <p:nvPr/>
        </p:nvSpPr>
        <p:spPr>
          <a:xfrm>
            <a:off x="1005840" y="283464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B8D4E8"/>
                </a:solidFill>
                <a:effectLst/>
                <a:uFillTx/>
                <a:latin typeface="Calibri"/>
              </a:rPr>
              <a:t>"HMS successfully demonstrates enterprise-grade OOP — layered architecture, 3-role access control, Email 2FA security, and professional PDF reporting — built entirely in Java."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10"/>
          <p:cNvSpPr/>
          <p:nvPr/>
        </p:nvSpPr>
        <p:spPr>
          <a:xfrm>
            <a:off x="841320" y="3822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11"/>
          <p:cNvSpPr/>
          <p:nvPr/>
        </p:nvSpPr>
        <p:spPr>
          <a:xfrm>
            <a:off x="841320" y="3822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Java 25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2"/>
          <p:cNvSpPr/>
          <p:nvPr/>
        </p:nvSpPr>
        <p:spPr>
          <a:xfrm>
            <a:off x="2761560" y="3822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00B4FF"/>
            </a:solidFill>
            <a:round/>
          </a:ln>
          <a:effectLst>
            <a:outerShdw algn="bl" blurRad="228600" dir="16200000" dist="50760" rotWithShape="0">
              <a:srgbClr val="00B4F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13"/>
          <p:cNvSpPr/>
          <p:nvPr/>
        </p:nvSpPr>
        <p:spPr>
          <a:xfrm>
            <a:off x="2761560" y="3822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B4FF"/>
                </a:solidFill>
                <a:effectLst/>
                <a:uFillTx/>
                <a:latin typeface="Calibri"/>
              </a:rPr>
              <a:t>JavaFX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14"/>
          <p:cNvSpPr/>
          <p:nvPr/>
        </p:nvSpPr>
        <p:spPr>
          <a:xfrm>
            <a:off x="4681800" y="3822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5"/>
          <p:cNvSpPr/>
          <p:nvPr/>
        </p:nvSpPr>
        <p:spPr>
          <a:xfrm>
            <a:off x="4681800" y="3822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MySQL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6"/>
          <p:cNvSpPr/>
          <p:nvPr/>
        </p:nvSpPr>
        <p:spPr>
          <a:xfrm>
            <a:off x="6602040" y="3822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9D4EDD"/>
            </a:solidFill>
            <a:round/>
          </a:ln>
          <a:effectLst>
            <a:outerShdw algn="bl" blurRad="228600" dir="16200000" dist="50760" rotWithShape="0">
              <a:srgbClr val="9D4EDD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17"/>
          <p:cNvSpPr/>
          <p:nvPr/>
        </p:nvSpPr>
        <p:spPr>
          <a:xfrm>
            <a:off x="6602040" y="3822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9D4EDD"/>
                </a:solidFill>
                <a:effectLst/>
                <a:uFillTx/>
                <a:latin typeface="Calibri"/>
              </a:rPr>
              <a:t>OOP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18"/>
          <p:cNvSpPr/>
          <p:nvPr/>
        </p:nvSpPr>
        <p:spPr>
          <a:xfrm>
            <a:off x="841320" y="4389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FF2D78"/>
            </a:solidFill>
            <a:round/>
          </a:ln>
          <a:effectLst>
            <a:outerShdw algn="bl" blurRad="228600" dir="16200000" dist="50760" rotWithShape="0">
              <a:srgbClr val="FF2D78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9"/>
          <p:cNvSpPr/>
          <p:nvPr/>
        </p:nvSpPr>
        <p:spPr>
          <a:xfrm>
            <a:off x="841320" y="4389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2D78"/>
                </a:solidFill>
                <a:effectLst/>
                <a:uFillTx/>
                <a:latin typeface="Calibri"/>
              </a:rPr>
              <a:t>Email 2FA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20"/>
          <p:cNvSpPr/>
          <p:nvPr/>
        </p:nvSpPr>
        <p:spPr>
          <a:xfrm>
            <a:off x="2761560" y="4389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00FF9F"/>
            </a:solidFill>
            <a:round/>
          </a:ln>
          <a:effectLst>
            <a:outerShdw algn="bl" blurRad="228600" dir="16200000" dist="50760" rotWithShape="0">
              <a:srgbClr val="00FF9F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21"/>
          <p:cNvSpPr/>
          <p:nvPr/>
        </p:nvSpPr>
        <p:spPr>
          <a:xfrm>
            <a:off x="2761560" y="4389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FF9F"/>
                </a:solidFill>
                <a:effectLst/>
                <a:uFillTx/>
                <a:latin typeface="Calibri"/>
              </a:rPr>
              <a:t>PDF Reports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22"/>
          <p:cNvSpPr/>
          <p:nvPr/>
        </p:nvSpPr>
        <p:spPr>
          <a:xfrm>
            <a:off x="4681800" y="4389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00FFD4"/>
            </a:solidFill>
            <a:round/>
          </a:ln>
          <a:effectLst>
            <a:outerShdw algn="bl" blurRad="228600" dir="16200000" dist="50760" rotWithShape="0">
              <a:srgbClr val="00FFD4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23"/>
          <p:cNvSpPr/>
          <p:nvPr/>
        </p:nvSpPr>
        <p:spPr>
          <a:xfrm>
            <a:off x="4681800" y="4389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Role Access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24"/>
          <p:cNvSpPr/>
          <p:nvPr/>
        </p:nvSpPr>
        <p:spPr>
          <a:xfrm>
            <a:off x="6602040" y="4389120"/>
            <a:ext cx="1690920" cy="401760"/>
          </a:xfrm>
          <a:prstGeom prst="roundRect">
            <a:avLst>
              <a:gd name="adj" fmla="val 31818"/>
            </a:avLst>
          </a:prstGeom>
          <a:solidFill>
            <a:srgbClr val="060B14"/>
          </a:solidFill>
          <a:ln w="15240">
            <a:solidFill>
              <a:srgbClr val="FFB700"/>
            </a:solidFill>
            <a:round/>
          </a:ln>
          <a:effectLst>
            <a:outerShdw algn="bl" blurRad="228600" dir="16200000" dist="50760" rotWithShape="0">
              <a:srgbClr val="FFB700">
                <a:alpha val="6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25"/>
          <p:cNvSpPr/>
          <p:nvPr/>
        </p:nvSpPr>
        <p:spPr>
          <a:xfrm>
            <a:off x="6602040" y="4389120"/>
            <a:ext cx="1690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B700"/>
                </a:solidFill>
                <a:effectLst/>
                <a:uFillTx/>
                <a:latin typeface="Calibri"/>
              </a:rPr>
              <a:t>Audit Logs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26"/>
          <p:cNvSpPr/>
          <p:nvPr/>
        </p:nvSpPr>
        <p:spPr>
          <a:xfrm>
            <a:off x="457200" y="4760640"/>
            <a:ext cx="86860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FFD4"/>
                </a:solidFill>
                <a:effectLst/>
                <a:uFillTx/>
                <a:latin typeface="Calibri"/>
              </a:rPr>
              <a:t>Questions &amp; Discussion  ⚡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27"/>
          <p:cNvSpPr/>
          <p:nvPr/>
        </p:nvSpPr>
        <p:spPr>
          <a:xfrm>
            <a:off x="0" y="6803280"/>
            <a:ext cx="9143280" cy="54000"/>
          </a:xfrm>
          <a:prstGeom prst="rect">
            <a:avLst/>
          </a:prstGeom>
          <a:noFill/>
          <a:ln w="12700">
            <a:solidFill>
              <a:srgbClr val="00FF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Application>LibreOffice/26.2.3.2$Linux_X86_64 LibreOffice_project/620$Build-2</Application>
  <AppVersion>15.0000</AppVersion>
  <Words>2070</Words>
  <Paragraphs>511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2026-06-14T20:34:12Z</dcterms:created>
  <dc:creator>PptxGenJS</dc:creator>
  <dc:description/>
  <dc:language>en-US</dc:language>
  <cp:lastModifiedBy/>
  <dcterms:modified xsi:type="dcterms:W3CDTF">2026-06-24T00:47:11Z</dcterms:modified>
  <cp:revision>22</cp:revision>
  <dc:subject>PptxGenJS Presentation</dc:subject>
  <dc:title>HMS — Cyberpunk v3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